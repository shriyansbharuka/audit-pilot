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ad9734d-f61c-ea33-aa23-bf55429532fb}">
          <p14:sldIdLst>
            <p14:sldId id="256"/>
            <p14:sldId id="257"/>
          </p14:sldIdLst>
        </p14:section>
        <p14:section name="Solution" id="{46b6c605-cb69-fe62-d29f-0c589443b6eb}">
          <p14:sldIdLst>
            <p14:sldId id="258"/>
            <p14:sldId id="259"/>
            <p14:sldId id="260"/>
          </p14:sldIdLst>
        </p14:section>
        <p14:section name="Trust" id="{a370e550-9a04-7818-2720-71fc1044c199}">
          <p14:sldIdLst>
            <p14:sldId id="261"/>
          </p14:sldIdLst>
        </p14:section>
        <p14:section name="Detection" id="{cc43ef3d-486c-5889-4bff-27d13f3cf552}">
          <p14:sldIdLst>
            <p14:sldId id="262"/>
            <p14:sldId id="263"/>
          </p14:sldIdLst>
        </p14:section>
        <p14:section name="Evidence" id="{e95543f2-9b37-31a0-12d1-590792818270}">
          <p14:sldIdLst>
            <p14:sldId id="264"/>
            <p14:sldId id="265"/>
            <p14:sldId id="266"/>
          </p14:sldIdLst>
        </p14:section>
        <p14:section name="Close" id="{3b8b667e-520d-b432-3586-24b7002c1fed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 built the company's system of record and audit 100% of it, through an MCP server any AI agent can use, under strict auditor independence, with a human partner signing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4% figure is our own calculation: a uniform random sample of 30 from 7,000 contains at least one of 10 planted invoices only about 4% of the time. So sampling cannot be the detector.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map 1:1 to the 'beyond the core' section of the problem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PS says deciding what must exist to prove a sale is part of the problem. This is 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 app is itself just another MCP client, so it gets exactly the user's permissions and every click is in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this live: an auditor-token call to create_sales_order is refused and logged; editing the SQLite file directly is caught by verify_integrity.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hit carries a plain-language reason, the standard (SA / Ind AS / GST), the rupee impact and a proposed adjusting entry.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 from 'A Graph Theoretical Approach for Identifying Fraudulent Transactions in Circular Trading' (2017). Cycles close only through the audited company, shared identifiers or group companies: we don't invent visibility into third parties'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python -m app.evaluate. The ablation compares transaction features only, plus graph features, plus entity risk: the measured benefit of AuditGraph.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 minutes. Backup: the screen recording, in case the venue network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proposes; the human partner decides every finding with a mandatory comment, then signs off with the identity on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limitations out loud: judges reward honesty about what a prototype 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judges to plant their own irregularities live with the client token and audit with the auditor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AuditPilot AI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the business, not the spreadsheet.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AI-run statutory revenue audit an engagement partner would sign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 1.0 · PS-04 · Team ELEV01: Shriyans · Ibrahim · Darshan · Aarav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audit tests the spreadsheet</a:t>
            </a:r>
            <a:endParaRPr lang="en-US" sz="3000" dirty="0"/>
          </a:p>
        </p:txBody>
      </p:sp>
      <p:sp>
        <p:nvSpPr>
          <p:cNvPr id="3" name="card-1"/>
          <p:cNvSpPr/>
          <p:nvPr/>
        </p:nvSpPr>
        <p:spPr>
          <a:xfrm>
            <a:off x="457200" y="118872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4" name="text-2"/>
          <p:cNvSpPr txBox="1"/>
          <p:nvPr/>
        </p:nvSpPr>
        <p:spPr>
          <a:xfrm>
            <a:off x="640080" y="1325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</a:t>
            </a:r>
            <a:endParaRPr lang="en-US" sz="4400" dirty="0"/>
          </a:p>
        </p:txBody>
      </p:sp>
      <p:sp>
        <p:nvSpPr>
          <p:cNvPr id="5" name="text-3"/>
          <p:cNvSpPr txBox="1"/>
          <p:nvPr/>
        </p:nvSpPr>
        <p:spPr>
          <a:xfrm>
            <a:off x="640080" y="22402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sales a year in a mid-size manufacturer</a:t>
            </a:r>
            <a:endParaRPr lang="en-US" sz="1400" dirty="0"/>
          </a:p>
        </p:txBody>
      </p:sp>
      <p:sp>
        <p:nvSpPr>
          <p:cNvPr id="6" name="card-4"/>
          <p:cNvSpPr/>
          <p:nvPr/>
        </p:nvSpPr>
        <p:spPr>
          <a:xfrm>
            <a:off x="3246120" y="118872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7" name="text-5"/>
          <p:cNvSpPr txBox="1"/>
          <p:nvPr/>
        </p:nvSpPr>
        <p:spPr>
          <a:xfrm>
            <a:off x="3429000" y="1325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</a:t>
            </a:r>
            <a:endParaRPr lang="en-US" sz="4400" dirty="0"/>
          </a:p>
        </p:txBody>
      </p:sp>
      <p:sp>
        <p:nvSpPr>
          <p:cNvPr id="8" name="text-6"/>
          <p:cNvSpPr txBox="1"/>
          <p:nvPr/>
        </p:nvSpPr>
        <p:spPr>
          <a:xfrm>
            <a:off x="3429000" y="22402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 them tested, picked on judgment</a:t>
            </a:r>
            <a:endParaRPr lang="en-US" sz="1400" dirty="0"/>
          </a:p>
        </p:txBody>
      </p:sp>
      <p:sp>
        <p:nvSpPr>
          <p:cNvPr id="9" name="card-7"/>
          <p:cNvSpPr/>
          <p:nvPr/>
        </p:nvSpPr>
        <p:spPr>
          <a:xfrm>
            <a:off x="6035040" y="118872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0" name="text-8"/>
          <p:cNvSpPr txBox="1"/>
          <p:nvPr/>
        </p:nvSpPr>
        <p:spPr>
          <a:xfrm>
            <a:off x="6217920" y="13258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~4%</a:t>
            </a:r>
            <a:endParaRPr lang="en-US" sz="4400" dirty="0"/>
          </a:p>
        </p:txBody>
      </p:sp>
      <p:sp>
        <p:nvSpPr>
          <p:cNvPr id="11" name="text-9"/>
          <p:cNvSpPr txBox="1"/>
          <p:nvPr/>
        </p:nvSpPr>
        <p:spPr>
          <a:xfrm>
            <a:off x="6217920" y="22402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chance 30 random samples catch any of 10 planted sales</a:t>
            </a:r>
            <a:endParaRPr lang="en-US" sz="1400" dirty="0"/>
          </a:p>
        </p:txBody>
      </p:sp>
      <p:sp>
        <p:nvSpPr>
          <p:cNvPr id="12" name="text-10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auditor only sees the client's export, never what was promised, what physically moved, or what was reversed after year end. Fake invoices, circular trading, period-end stuffing and hidden related-party sales hide behind paperwork that looks complete.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answer: four ideas</a:t>
            </a:r>
            <a:endParaRPr lang="en-US" sz="3000" dirty="0"/>
          </a:p>
        </p:txBody>
      </p:sp>
      <p:sp>
        <p:nvSpPr>
          <p:cNvPr id="3" name="card-11"/>
          <p:cNvSpPr/>
          <p:nvPr/>
        </p:nvSpPr>
        <p:spPr>
          <a:xfrm>
            <a:off x="457200" y="1143000"/>
            <a:ext cx="39776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4" name="dot-12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3"/>
          <p:cNvSpPr txBox="1"/>
          <p:nvPr/>
        </p:nvSpPr>
        <p:spPr>
          <a:xfrm>
            <a:off x="68580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-14"/>
          <p:cNvSpPr txBox="1"/>
          <p:nvPr/>
        </p:nvSpPr>
        <p:spPr>
          <a:xfrm>
            <a:off x="1417320" y="1325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Build the system of record</a:t>
            </a:r>
            <a:endParaRPr lang="en-US" sz="1700" dirty="0"/>
          </a:p>
        </p:txBody>
      </p:sp>
      <p:sp>
        <p:nvSpPr>
          <p:cNvPr id="7" name="text-15"/>
          <p:cNvSpPr txBox="1"/>
          <p:nvPr/>
        </p:nvSpPr>
        <p:spPr>
          <a:xfrm>
            <a:off x="141732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Enquiry → order → dispatch → invoice → payment, on a tamper-evident ledger with mock GST portals</a:t>
            </a:r>
            <a:endParaRPr lang="en-US" sz="1300" dirty="0"/>
          </a:p>
        </p:txBody>
      </p:sp>
      <p:sp>
        <p:nvSpPr>
          <p:cNvPr id="8" name="card-16"/>
          <p:cNvSpPr/>
          <p:nvPr/>
        </p:nvSpPr>
        <p:spPr>
          <a:xfrm>
            <a:off x="4663440" y="1143000"/>
            <a:ext cx="39776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9" name="dot-17"/>
          <p:cNvSpPr/>
          <p:nvPr/>
        </p:nvSpPr>
        <p:spPr>
          <a:xfrm>
            <a:off x="48920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18"/>
          <p:cNvSpPr txBox="1"/>
          <p:nvPr/>
        </p:nvSpPr>
        <p:spPr>
          <a:xfrm>
            <a:off x="48920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-19"/>
          <p:cNvSpPr txBox="1"/>
          <p:nvPr/>
        </p:nvSpPr>
        <p:spPr>
          <a:xfrm>
            <a:off x="5623560" y="1325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Test 100%, sample to prove</a:t>
            </a:r>
            <a:endParaRPr lang="en-US" sz="1700" dirty="0"/>
          </a:p>
        </p:txBody>
      </p:sp>
      <p:sp>
        <p:nvSpPr>
          <p:cNvPr id="12" name="text-20"/>
          <p:cNvSpPr txBox="1"/>
          <p:nvPr/>
        </p:nvSpPr>
        <p:spPr>
          <a:xfrm>
            <a:off x="562356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15 detectors over every sale; samples only for evidence vouching</a:t>
            </a:r>
            <a:endParaRPr lang="en-US" sz="1300" dirty="0"/>
          </a:p>
        </p:txBody>
      </p:sp>
      <p:sp>
        <p:nvSpPr>
          <p:cNvPr id="13" name="card-21"/>
          <p:cNvSpPr/>
          <p:nvPr/>
        </p:nvSpPr>
        <p:spPr>
          <a:xfrm>
            <a:off x="457200" y="2926080"/>
            <a:ext cx="39776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4" name="dot-22"/>
          <p:cNvSpPr/>
          <p:nvPr/>
        </p:nvSpPr>
        <p:spPr>
          <a:xfrm>
            <a:off x="685800" y="3200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-23"/>
          <p:cNvSpPr txBox="1"/>
          <p:nvPr/>
        </p:nvSpPr>
        <p:spPr>
          <a:xfrm>
            <a:off x="6858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-24"/>
          <p:cNvSpPr txBox="1"/>
          <p:nvPr/>
        </p:nvSpPr>
        <p:spPr>
          <a:xfrm>
            <a:off x="141732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AuditGraph risk engine</a:t>
            </a:r>
            <a:endParaRPr lang="en-US" sz="1700" dirty="0"/>
          </a:p>
        </p:txBody>
      </p:sp>
      <p:sp>
        <p:nvSpPr>
          <p:cNvPr id="17" name="text-25"/>
          <p:cNvSpPr txBox="1"/>
          <p:nvPr/>
        </p:nvSpPr>
        <p:spPr>
          <a:xfrm>
            <a:off x="1417320" y="3566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Transaction + company risk on a temporal graph, incl. circular-trading value</a:t>
            </a:r>
            <a:endParaRPr lang="en-US" sz="1300" dirty="0"/>
          </a:p>
        </p:txBody>
      </p:sp>
      <p:sp>
        <p:nvSpPr>
          <p:cNvPr id="18" name="card-26"/>
          <p:cNvSpPr/>
          <p:nvPr/>
        </p:nvSpPr>
        <p:spPr>
          <a:xfrm>
            <a:off x="4663440" y="2926080"/>
            <a:ext cx="39776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9" name="dot-27"/>
          <p:cNvSpPr/>
          <p:nvPr/>
        </p:nvSpPr>
        <p:spPr>
          <a:xfrm>
            <a:off x="4892040" y="3200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28"/>
          <p:cNvSpPr txBox="1"/>
          <p:nvPr/>
        </p:nvSpPr>
        <p:spPr>
          <a:xfrm>
            <a:off x="48920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-29"/>
          <p:cNvSpPr txBox="1"/>
          <p:nvPr/>
        </p:nvSpPr>
        <p:spPr>
          <a:xfrm>
            <a:off x="562356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MCP under independence</a:t>
            </a:r>
            <a:endParaRPr lang="en-US" sz="1700" dirty="0"/>
          </a:p>
        </p:txBody>
      </p:sp>
      <p:sp>
        <p:nvSpPr>
          <p:cNvPr id="22" name="text-30"/>
          <p:cNvSpPr txBox="1"/>
          <p:nvPr/>
        </p:nvSpPr>
        <p:spPr>
          <a:xfrm>
            <a:off x="5623560" y="3566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Any agent with a token runs the business or audits it; the auditor can never write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proves a sale really happened</a:t>
            </a:r>
            <a:endParaRPr lang="en-US" sz="3000" dirty="0"/>
          </a:p>
        </p:txBody>
      </p:sp>
      <p:sp>
        <p:nvSpPr>
          <p:cNvPr id="3" name="card-31"/>
          <p:cNvSpPr/>
          <p:nvPr/>
        </p:nvSpPr>
        <p:spPr>
          <a:xfrm>
            <a:off x="411480" y="1325880"/>
            <a:ext cx="1280160" cy="15544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4" name="dot-32"/>
          <p:cNvSpPr/>
          <p:nvPr/>
        </p:nvSpPr>
        <p:spPr>
          <a:xfrm>
            <a:off x="82296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33"/>
          <p:cNvSpPr txBox="1"/>
          <p:nvPr/>
        </p:nvSpPr>
        <p:spPr>
          <a:xfrm>
            <a:off x="8229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-34"/>
          <p:cNvSpPr txBox="1"/>
          <p:nvPr/>
        </p:nvSpPr>
        <p:spPr>
          <a:xfrm>
            <a:off x="457200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Enquiry</a:t>
            </a:r>
            <a:endParaRPr lang="en-US" sz="1300" dirty="0"/>
          </a:p>
        </p:txBody>
      </p:sp>
      <p:sp>
        <p:nvSpPr>
          <p:cNvPr id="7" name="text-35"/>
          <p:cNvSpPr txBox="1"/>
          <p:nvPr/>
        </p:nvSpPr>
        <p:spPr>
          <a:xfrm>
            <a:off x="4572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lead, contact</a:t>
            </a:r>
            <a:endParaRPr lang="en-US" sz="1000" dirty="0"/>
          </a:p>
        </p:txBody>
      </p:sp>
      <p:sp>
        <p:nvSpPr>
          <p:cNvPr id="8" name="card-36"/>
          <p:cNvSpPr/>
          <p:nvPr/>
        </p:nvSpPr>
        <p:spPr>
          <a:xfrm>
            <a:off x="1810512" y="1325880"/>
            <a:ext cx="1280160" cy="15544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9" name="dot-37"/>
          <p:cNvSpPr/>
          <p:nvPr/>
        </p:nvSpPr>
        <p:spPr>
          <a:xfrm>
            <a:off x="2221992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38"/>
          <p:cNvSpPr txBox="1"/>
          <p:nvPr/>
        </p:nvSpPr>
        <p:spPr>
          <a:xfrm>
            <a:off x="2221992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39"/>
          <p:cNvSpPr txBox="1"/>
          <p:nvPr/>
        </p:nvSpPr>
        <p:spPr>
          <a:xfrm>
            <a:off x="1856232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Order</a:t>
            </a:r>
            <a:endParaRPr lang="en-US" sz="1300" dirty="0"/>
          </a:p>
        </p:txBody>
      </p:sp>
      <p:sp>
        <p:nvSpPr>
          <p:cNvPr id="12" name="text-40"/>
          <p:cNvSpPr txBox="1"/>
          <p:nvPr/>
        </p:nvSpPr>
        <p:spPr>
          <a:xfrm>
            <a:off x="1856232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price, terms, scheme</a:t>
            </a:r>
            <a:endParaRPr lang="en-US" sz="1000" dirty="0"/>
          </a:p>
        </p:txBody>
      </p:sp>
      <p:sp>
        <p:nvSpPr>
          <p:cNvPr id="13" name="card-41"/>
          <p:cNvSpPr/>
          <p:nvPr/>
        </p:nvSpPr>
        <p:spPr>
          <a:xfrm>
            <a:off x="3209544" y="1325880"/>
            <a:ext cx="1280160" cy="15544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4" name="dot-42"/>
          <p:cNvSpPr/>
          <p:nvPr/>
        </p:nvSpPr>
        <p:spPr>
          <a:xfrm>
            <a:off x="3621024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-43"/>
          <p:cNvSpPr txBox="1"/>
          <p:nvPr/>
        </p:nvSpPr>
        <p:spPr>
          <a:xfrm>
            <a:off x="362102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44"/>
          <p:cNvSpPr txBox="1"/>
          <p:nvPr/>
        </p:nvSpPr>
        <p:spPr>
          <a:xfrm>
            <a:off x="3255264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Movement</a:t>
            </a:r>
            <a:endParaRPr lang="en-US" sz="1300" dirty="0"/>
          </a:p>
        </p:txBody>
      </p:sp>
      <p:sp>
        <p:nvSpPr>
          <p:cNvPr id="17" name="text-45"/>
          <p:cNvSpPr txBox="1"/>
          <p:nvPr/>
        </p:nvSpPr>
        <p:spPr>
          <a:xfrm>
            <a:off x="3255264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dispatch, LR, POD, e-way bill</a:t>
            </a:r>
            <a:endParaRPr lang="en-US" sz="1000" dirty="0"/>
          </a:p>
        </p:txBody>
      </p:sp>
      <p:sp>
        <p:nvSpPr>
          <p:cNvPr id="18" name="card-46"/>
          <p:cNvSpPr/>
          <p:nvPr/>
        </p:nvSpPr>
        <p:spPr>
          <a:xfrm>
            <a:off x="4608576" y="1325880"/>
            <a:ext cx="1280160" cy="15544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9" name="dot-47"/>
          <p:cNvSpPr/>
          <p:nvPr/>
        </p:nvSpPr>
        <p:spPr>
          <a:xfrm>
            <a:off x="5020056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-48"/>
          <p:cNvSpPr txBox="1"/>
          <p:nvPr/>
        </p:nvSpPr>
        <p:spPr>
          <a:xfrm>
            <a:off x="5020056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-49"/>
          <p:cNvSpPr txBox="1"/>
          <p:nvPr/>
        </p:nvSpPr>
        <p:spPr>
          <a:xfrm>
            <a:off x="4654296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Revenue &amp; tax</a:t>
            </a:r>
            <a:endParaRPr lang="en-US" sz="1300" dirty="0"/>
          </a:p>
        </p:txBody>
      </p:sp>
      <p:sp>
        <p:nvSpPr>
          <p:cNvPr id="22" name="text-50"/>
          <p:cNvSpPr txBox="1"/>
          <p:nvPr/>
        </p:nvSpPr>
        <p:spPr>
          <a:xfrm>
            <a:off x="4654296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invoice, IRN, GSTR-1, ledger</a:t>
            </a:r>
            <a:endParaRPr lang="en-US" sz="1000" dirty="0"/>
          </a:p>
        </p:txBody>
      </p:sp>
      <p:sp>
        <p:nvSpPr>
          <p:cNvPr id="23" name="card-51"/>
          <p:cNvSpPr/>
          <p:nvPr/>
        </p:nvSpPr>
        <p:spPr>
          <a:xfrm>
            <a:off x="6007608" y="1325880"/>
            <a:ext cx="1280160" cy="15544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24" name="dot-52"/>
          <p:cNvSpPr/>
          <p:nvPr/>
        </p:nvSpPr>
        <p:spPr>
          <a:xfrm>
            <a:off x="6419088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53"/>
          <p:cNvSpPr txBox="1"/>
          <p:nvPr/>
        </p:nvSpPr>
        <p:spPr>
          <a:xfrm>
            <a:off x="6419088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-54"/>
          <p:cNvSpPr txBox="1"/>
          <p:nvPr/>
        </p:nvSpPr>
        <p:spPr>
          <a:xfrm>
            <a:off x="6053328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Cash</a:t>
            </a:r>
            <a:endParaRPr lang="en-US" sz="1300" dirty="0"/>
          </a:p>
        </p:txBody>
      </p:sp>
      <p:sp>
        <p:nvSpPr>
          <p:cNvPr id="27" name="text-55"/>
          <p:cNvSpPr txBox="1"/>
          <p:nvPr/>
        </p:nvSpPr>
        <p:spPr>
          <a:xfrm>
            <a:off x="6053328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bank receipt, payer a/c</a:t>
            </a:r>
            <a:endParaRPr lang="en-US" sz="1000" dirty="0"/>
          </a:p>
        </p:txBody>
      </p:sp>
      <p:sp>
        <p:nvSpPr>
          <p:cNvPr id="28" name="card-56"/>
          <p:cNvSpPr/>
          <p:nvPr/>
        </p:nvSpPr>
        <p:spPr>
          <a:xfrm>
            <a:off x="7406640" y="1325880"/>
            <a:ext cx="1280160" cy="15544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29" name="dot-57"/>
          <p:cNvSpPr/>
          <p:nvPr/>
        </p:nvSpPr>
        <p:spPr>
          <a:xfrm>
            <a:off x="781812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-58"/>
          <p:cNvSpPr txBox="1"/>
          <p:nvPr/>
        </p:nvSpPr>
        <p:spPr>
          <a:xfrm>
            <a:off x="78181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-59"/>
          <p:cNvSpPr txBox="1"/>
          <p:nvPr/>
        </p:nvSpPr>
        <p:spPr>
          <a:xfrm>
            <a:off x="7452360" y="2011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Reversals</a:t>
            </a:r>
            <a:endParaRPr lang="en-US" sz="1300" dirty="0"/>
          </a:p>
        </p:txBody>
      </p:sp>
      <p:sp>
        <p:nvSpPr>
          <p:cNvPr id="32" name="text-60"/>
          <p:cNvSpPr txBox="1"/>
          <p:nvPr/>
        </p:nvSpPr>
        <p:spPr>
          <a:xfrm>
            <a:off x="745236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credit notes, returns</a:t>
            </a:r>
            <a:endParaRPr lang="en-US" sz="1000" dirty="0"/>
          </a:p>
        </p:txBody>
      </p:sp>
      <p:sp>
        <p:nvSpPr>
          <p:cNvPr id="33" name="list-61"/>
          <p:cNvSpPr txBox="1"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write posts a balanced journal and appends to a hash-chained edit log (nothing is updated or deleted)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Government copies (IRN, e-way bill, GSTR-1/3B, bank) sit in a separate store the client can't edit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client's exported register is compared against all of it: every difference is a finding, not a cleaning step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MCP front door, four databases</a:t>
            </a:r>
            <a:endParaRPr lang="en-US" sz="3000" dirty="0"/>
          </a:p>
        </p:txBody>
      </p:sp>
      <p:sp>
        <p:nvSpPr>
          <p:cNvPr id="3" name="card-62"/>
          <p:cNvSpPr/>
          <p:nvPr/>
        </p:nvSpPr>
        <p:spPr>
          <a:xfrm>
            <a:off x="365760" y="1097280"/>
            <a:ext cx="20116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4" name="text-63"/>
          <p:cNvSpPr txBox="1"/>
          <p:nvPr/>
        </p:nvSpPr>
        <p:spPr>
          <a:xfrm>
            <a:off x="365760" y="10972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Judges' AI agent</a:t>
            </a:r>
            <a:endParaRPr lang="en-US" sz="1200" dirty="0"/>
          </a:p>
        </p:txBody>
      </p:sp>
      <p:sp>
        <p:nvSpPr>
          <p:cNvPr id="5" name="card-64"/>
          <p:cNvSpPr/>
          <p:nvPr/>
        </p:nvSpPr>
        <p:spPr>
          <a:xfrm>
            <a:off x="365760" y="1691640"/>
            <a:ext cx="20116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6" name="text-65"/>
          <p:cNvSpPr txBox="1"/>
          <p:nvPr/>
        </p:nvSpPr>
        <p:spPr>
          <a:xfrm>
            <a:off x="365760" y="1691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Our GPT investigator</a:t>
            </a:r>
            <a:endParaRPr lang="en-US" sz="1200" dirty="0"/>
          </a:p>
        </p:txBody>
      </p:sp>
      <p:sp>
        <p:nvSpPr>
          <p:cNvPr id="7" name="card-66"/>
          <p:cNvSpPr/>
          <p:nvPr/>
        </p:nvSpPr>
        <p:spPr>
          <a:xfrm>
            <a:off x="365760" y="2286000"/>
            <a:ext cx="20116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8" name="text-67"/>
          <p:cNvSpPr txBox="1"/>
          <p:nvPr/>
        </p:nvSpPr>
        <p:spPr>
          <a:xfrm>
            <a:off x="365760" y="22860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n8n · Shopify app</a:t>
            </a:r>
            <a:endParaRPr lang="en-US" sz="1200" dirty="0"/>
          </a:p>
        </p:txBody>
      </p:sp>
      <p:sp>
        <p:nvSpPr>
          <p:cNvPr id="9" name="card-68"/>
          <p:cNvSpPr/>
          <p:nvPr/>
        </p:nvSpPr>
        <p:spPr>
          <a:xfrm>
            <a:off x="365760" y="2880360"/>
            <a:ext cx="20116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0" name="text-69"/>
          <p:cNvSpPr txBox="1"/>
          <p:nvPr/>
        </p:nvSpPr>
        <p:spPr>
          <a:xfrm>
            <a:off x="365760" y="28803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Web app (Streamlit)</a:t>
            </a:r>
            <a:endParaRPr lang="en-US" sz="1200" dirty="0"/>
          </a:p>
        </p:txBody>
      </p:sp>
      <p:sp>
        <p:nvSpPr>
          <p:cNvPr id="11" name="card-70"/>
          <p:cNvSpPr/>
          <p:nvPr/>
        </p:nvSpPr>
        <p:spPr>
          <a:xfrm>
            <a:off x="2743200" y="1097280"/>
            <a:ext cx="27432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2" name="text-71"/>
          <p:cNvSpPr txBox="1"/>
          <p:nvPr/>
        </p:nvSpPr>
        <p:spPr>
          <a:xfrm>
            <a:off x="2743200" y="10972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MCP Gateway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token → role → only that role's tools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every call hash-chained in the trail</a:t>
            </a:r>
            <a:endParaRPr lang="en-US" sz="1200" dirty="0"/>
          </a:p>
        </p:txBody>
      </p:sp>
      <p:sp>
        <p:nvSpPr>
          <p:cNvPr id="13" name="card-72"/>
          <p:cNvSpPr/>
          <p:nvPr/>
        </p:nvSpPr>
        <p:spPr>
          <a:xfrm>
            <a:off x="2743200" y="2468880"/>
            <a:ext cx="13258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4" name="text-73"/>
          <p:cNvSpPr txBox="1"/>
          <p:nvPr/>
        </p:nvSpPr>
        <p:spPr>
          <a:xfrm>
            <a:off x="2743200" y="2468880"/>
            <a:ext cx="1325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Client tools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run the business</a:t>
            </a:r>
            <a:endParaRPr lang="en-US" sz="1200" dirty="0"/>
          </a:p>
        </p:txBody>
      </p:sp>
      <p:sp>
        <p:nvSpPr>
          <p:cNvPr id="15" name="card-74"/>
          <p:cNvSpPr/>
          <p:nvPr/>
        </p:nvSpPr>
        <p:spPr>
          <a:xfrm>
            <a:off x="4160520" y="2468880"/>
            <a:ext cx="13258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6" name="text-75"/>
          <p:cNvSpPr txBox="1"/>
          <p:nvPr/>
        </p:nvSpPr>
        <p:spPr>
          <a:xfrm>
            <a:off x="4160520" y="2468880"/>
            <a:ext cx="1325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Audit tools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read-only on the books</a:t>
            </a:r>
            <a:endParaRPr lang="en-US" sz="1200" dirty="0"/>
          </a:p>
        </p:txBody>
      </p:sp>
      <p:sp>
        <p:nvSpPr>
          <p:cNvPr id="17" name="card-76"/>
          <p:cNvSpPr/>
          <p:nvPr/>
        </p:nvSpPr>
        <p:spPr>
          <a:xfrm>
            <a:off x="5852160" y="1097280"/>
            <a:ext cx="29260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8" name="text-77"/>
          <p:cNvSpPr txBox="1"/>
          <p:nvPr/>
        </p:nvSpPr>
        <p:spPr>
          <a:xfrm>
            <a:off x="5852160" y="10972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erp.db: books, ledger, edit log</a:t>
            </a:r>
            <a:endParaRPr lang="en-US" sz="1200" dirty="0"/>
          </a:p>
        </p:txBody>
      </p:sp>
      <p:sp>
        <p:nvSpPr>
          <p:cNvPr id="19" name="card-78"/>
          <p:cNvSpPr/>
          <p:nvPr/>
        </p:nvSpPr>
        <p:spPr>
          <a:xfrm>
            <a:off x="5852160" y="1691640"/>
            <a:ext cx="29260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20" name="text-79"/>
          <p:cNvSpPr txBox="1"/>
          <p:nvPr/>
        </p:nvSpPr>
        <p:spPr>
          <a:xfrm>
            <a:off x="5852160" y="16916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ext.db: IRN, e-way bill, GSTR, bank</a:t>
            </a:r>
            <a:endParaRPr lang="en-US" sz="1200" dirty="0"/>
          </a:p>
        </p:txBody>
      </p:sp>
      <p:sp>
        <p:nvSpPr>
          <p:cNvPr id="21" name="card-80"/>
          <p:cNvSpPr/>
          <p:nvPr/>
        </p:nvSpPr>
        <p:spPr>
          <a:xfrm>
            <a:off x="5852160" y="2286000"/>
            <a:ext cx="2926080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22" name="text-81"/>
          <p:cNvSpPr txBox="1"/>
          <p:nvPr/>
        </p:nvSpPr>
        <p:spPr>
          <a:xfrm>
            <a:off x="5852160" y="22860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pbc.db: evidence requests ⇄ uploads</a:t>
            </a:r>
            <a:endParaRPr lang="en-US" sz="1200" dirty="0"/>
          </a:p>
        </p:txBody>
      </p:sp>
      <p:sp>
        <p:nvSpPr>
          <p:cNvPr id="23" name="card-82"/>
          <p:cNvSpPr/>
          <p:nvPr/>
        </p:nvSpPr>
        <p:spPr>
          <a:xfrm>
            <a:off x="5852160" y="2880360"/>
            <a:ext cx="2926080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24" name="text-83"/>
          <p:cNvSpPr txBox="1"/>
          <p:nvPr/>
        </p:nvSpPr>
        <p:spPr>
          <a:xfrm>
            <a:off x="5852160" y="28803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audit.db: workpaper, findings, trail</a:t>
            </a:r>
            <a:endParaRPr lang="en-US" sz="1200" dirty="0"/>
          </a:p>
        </p:txBody>
      </p:sp>
      <p:sp>
        <p:nvSpPr>
          <p:cNvPr id="25" name="arrow-84"/>
          <p:cNvSpPr/>
          <p:nvPr/>
        </p:nvSpPr>
        <p:spPr>
          <a:xfrm>
            <a:off x="2423160" y="1965960"/>
            <a:ext cx="274320" cy="0"/>
          </a:xfrm>
          <a:prstGeom prst="line">
            <a:avLst/>
          </a:prstGeom>
          <a:noFill/>
          <a:ln w="25400">
            <a:solidFill>
              <a:srgbClr val="5B6B73"/>
            </a:solidFill>
            <a:prstDash val="solid"/>
            <a:tailEnd type="triangle"/>
          </a:ln>
        </p:spPr>
      </p:sp>
      <p:sp>
        <p:nvSpPr>
          <p:cNvPr id="26" name="arrow-85"/>
          <p:cNvSpPr/>
          <p:nvPr/>
        </p:nvSpPr>
        <p:spPr>
          <a:xfrm>
            <a:off x="5532120" y="1965960"/>
            <a:ext cx="274320" cy="0"/>
          </a:xfrm>
          <a:prstGeom prst="line">
            <a:avLst/>
          </a:prstGeom>
          <a:noFill/>
          <a:ln w="25400">
            <a:solidFill>
              <a:srgbClr val="5B6B73"/>
            </a:solidFill>
            <a:prstDash val="solid"/>
            <a:tailEnd type="triangle"/>
          </a:ln>
        </p:spPr>
      </p:sp>
      <p:sp>
        <p:nvSpPr>
          <p:cNvPr id="27" name="text-86"/>
          <p:cNvSpPr txBox="1"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Python 3.11 · SQLite · official MCP SDK 2.3 · networkx · openpyxl · Streamlit · hosted on Voroa (2 vCPU / 4 GB, CPU only)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Independence is enforced, not promised</a:t>
            </a:r>
            <a:endParaRPr lang="en-US" sz="3000" dirty="0"/>
          </a:p>
        </p:txBody>
      </p:sp>
      <p:sp>
        <p:nvSpPr>
          <p:cNvPr id="3" name="dot-87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-88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-89"/>
          <p:cNvSpPr txBox="1"/>
          <p:nvPr/>
        </p:nvSpPr>
        <p:spPr>
          <a:xfrm>
            <a:off x="1005840" y="106984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comes only from a token: no tool accepts a role argument</a:t>
            </a:r>
            <a:endParaRPr lang="en-US" sz="1300" dirty="0"/>
          </a:p>
        </p:txBody>
      </p:sp>
      <p:sp>
        <p:nvSpPr>
          <p:cNvPr id="6" name="dot-90"/>
          <p:cNvSpPr/>
          <p:nvPr/>
        </p:nvSpPr>
        <p:spPr>
          <a:xfrm>
            <a:off x="457200" y="170078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-91"/>
          <p:cNvSpPr txBox="1"/>
          <p:nvPr/>
        </p:nvSpPr>
        <p:spPr>
          <a:xfrm>
            <a:off x="457200" y="17007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-92"/>
          <p:cNvSpPr txBox="1"/>
          <p:nvPr/>
        </p:nvSpPr>
        <p:spPr>
          <a:xfrm>
            <a:off x="1005840" y="16733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 auditor never even sees client tools (role-filtered tool list)</a:t>
            </a:r>
            <a:endParaRPr lang="en-US" sz="1300" dirty="0"/>
          </a:p>
        </p:txBody>
      </p:sp>
      <p:sp>
        <p:nvSpPr>
          <p:cNvPr id="9" name="dot-93"/>
          <p:cNvSpPr/>
          <p:nvPr/>
        </p:nvSpPr>
        <p:spPr>
          <a:xfrm>
            <a:off x="457200" y="230428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94"/>
          <p:cNvSpPr txBox="1"/>
          <p:nvPr/>
        </p:nvSpPr>
        <p:spPr>
          <a:xfrm>
            <a:off x="45720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-95"/>
          <p:cNvSpPr txBox="1"/>
          <p:nvPr/>
        </p:nvSpPr>
        <p:spPr>
          <a:xfrm>
            <a:off x="1005840" y="227685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Auditor connections to the books are read-only inside SQLite: a bug can't write</a:t>
            </a:r>
            <a:endParaRPr lang="en-US" sz="1300" dirty="0"/>
          </a:p>
        </p:txBody>
      </p:sp>
      <p:sp>
        <p:nvSpPr>
          <p:cNvPr id="12" name="dot-96"/>
          <p:cNvSpPr/>
          <p:nvPr/>
        </p:nvSpPr>
        <p:spPr>
          <a:xfrm>
            <a:off x="457200" y="290779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97"/>
          <p:cNvSpPr txBox="1"/>
          <p:nvPr/>
        </p:nvSpPr>
        <p:spPr>
          <a:xfrm>
            <a:off x="457200" y="2907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-98"/>
          <p:cNvSpPr txBox="1"/>
          <p:nvPr/>
        </p:nvSpPr>
        <p:spPr>
          <a:xfrm>
            <a:off x="1005840" y="28803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Adjusting entries are proposals; only management posts them</a:t>
            </a:r>
            <a:endParaRPr lang="en-US" sz="1300" dirty="0"/>
          </a:p>
        </p:txBody>
      </p:sp>
      <p:sp>
        <p:nvSpPr>
          <p:cNvPr id="15" name="dot-99"/>
          <p:cNvSpPr/>
          <p:nvPr/>
        </p:nvSpPr>
        <p:spPr>
          <a:xfrm>
            <a:off x="457200" y="3511296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100"/>
          <p:cNvSpPr txBox="1"/>
          <p:nvPr/>
        </p:nvSpPr>
        <p:spPr>
          <a:xfrm>
            <a:off x="457200" y="3511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-101"/>
          <p:cNvSpPr txBox="1"/>
          <p:nvPr/>
        </p:nvSpPr>
        <p:spPr>
          <a:xfrm>
            <a:off x="1005840" y="3483864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Only a human partner confirms findings and signs off, in the web app; the MCP server refuses the partner token</a:t>
            </a:r>
            <a:endParaRPr lang="en-US" sz="1300" dirty="0"/>
          </a:p>
        </p:txBody>
      </p:sp>
      <p:sp>
        <p:nvSpPr>
          <p:cNvPr id="18" name="card-102"/>
          <p:cNvSpPr/>
          <p:nvPr/>
        </p:nvSpPr>
        <p:spPr>
          <a:xfrm>
            <a:off x="5303520" y="1097280"/>
            <a:ext cx="347472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9" name="text-103"/>
          <p:cNvSpPr txBox="1"/>
          <p:nvPr/>
        </p:nvSpPr>
        <p:spPr>
          <a:xfrm>
            <a:off x="548640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Tamper evidence</a:t>
            </a:r>
            <a:endParaRPr lang="en-US" sz="1600" dirty="0"/>
          </a:p>
        </p:txBody>
      </p:sp>
      <p:sp>
        <p:nvSpPr>
          <p:cNvPr id="20" name="list-104"/>
          <p:cNvSpPr txBox="1"/>
          <p:nvPr/>
        </p:nvSpPr>
        <p:spPr>
          <a:xfrm>
            <a:off x="5486400" y="155448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Hash-chained edit log of every business write (before → after)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Hash-chained audit trail of every agent call, including refusals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Each trail row anchors the books' chain head, in a file the client can't open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 rewritten chain fails at the first anchor; a direct DB edit shows as 'changed outside the application'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Client edits after testing name the field, old → new, who, and every affected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testing: 15 detectors</a:t>
            </a:r>
            <a:endParaRPr lang="en-US" sz="3000" dirty="0"/>
          </a:p>
        </p:txBody>
      </p:sp>
      <p:sp>
        <p:nvSpPr>
          <p:cNvPr id="3" name="dot-105"/>
          <p:cNvSpPr/>
          <p:nvPr/>
        </p:nvSpPr>
        <p:spPr>
          <a:xfrm>
            <a:off x="457200" y="1097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-106"/>
          <p:cNvSpPr txBox="1"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D0</a:t>
            </a:r>
            <a:endParaRPr lang="en-US" sz="1100" dirty="0"/>
          </a:p>
        </p:txBody>
      </p:sp>
      <p:sp>
        <p:nvSpPr>
          <p:cNvPr id="5" name="text-107"/>
          <p:cNvSpPr txBox="1"/>
          <p:nvPr/>
        </p:nvSpPr>
        <p:spPr>
          <a:xfrm>
            <a:off x="1005840" y="1097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Register ≠ system of record</a:t>
            </a:r>
            <a:endParaRPr lang="en-US" sz="1100" dirty="0"/>
          </a:p>
        </p:txBody>
      </p:sp>
      <p:sp>
        <p:nvSpPr>
          <p:cNvPr id="6" name="dot-108"/>
          <p:cNvSpPr/>
          <p:nvPr/>
        </p:nvSpPr>
        <p:spPr>
          <a:xfrm>
            <a:off x="457200" y="17556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-109"/>
          <p:cNvSpPr txBox="1"/>
          <p:nvPr/>
        </p:nvSpPr>
        <p:spPr>
          <a:xfrm>
            <a:off x="45720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D1</a:t>
            </a:r>
            <a:endParaRPr lang="en-US" sz="1100" dirty="0"/>
          </a:p>
        </p:txBody>
      </p:sp>
      <p:sp>
        <p:nvSpPr>
          <p:cNvPr id="8" name="text-110"/>
          <p:cNvSpPr txBox="1"/>
          <p:nvPr/>
        </p:nvSpPr>
        <p:spPr>
          <a:xfrm>
            <a:off x="1005840" y="1755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Undisclosed related parties (PAN-in-GSTIN, bank, phone, director)</a:t>
            </a:r>
            <a:endParaRPr lang="en-US" sz="1100" dirty="0"/>
          </a:p>
        </p:txBody>
      </p:sp>
      <p:sp>
        <p:nvSpPr>
          <p:cNvPr id="9" name="dot-111"/>
          <p:cNvSpPr/>
          <p:nvPr/>
        </p:nvSpPr>
        <p:spPr>
          <a:xfrm>
            <a:off x="457200" y="241401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112"/>
          <p:cNvSpPr txBox="1"/>
          <p:nvPr/>
        </p:nvSpPr>
        <p:spPr>
          <a:xfrm>
            <a:off x="4572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D2</a:t>
            </a:r>
            <a:endParaRPr lang="en-US" sz="1100" dirty="0"/>
          </a:p>
        </p:txBody>
      </p:sp>
      <p:sp>
        <p:nvSpPr>
          <p:cNvPr id="11" name="text-113"/>
          <p:cNvSpPr txBox="1"/>
          <p:nvPr/>
        </p:nvSpPr>
        <p:spPr>
          <a:xfrm>
            <a:off x="1005840" y="24140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Related party starting mid-year</a:t>
            </a:r>
            <a:endParaRPr lang="en-US" sz="1100" dirty="0"/>
          </a:p>
        </p:txBody>
      </p:sp>
      <p:sp>
        <p:nvSpPr>
          <p:cNvPr id="12" name="dot-114"/>
          <p:cNvSpPr/>
          <p:nvPr/>
        </p:nvSpPr>
        <p:spPr>
          <a:xfrm>
            <a:off x="457200" y="30723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115"/>
          <p:cNvSpPr txBox="1"/>
          <p:nvPr/>
        </p:nvSpPr>
        <p:spPr>
          <a:xfrm>
            <a:off x="45720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D3</a:t>
            </a:r>
            <a:endParaRPr lang="en-US" sz="1100" dirty="0"/>
          </a:p>
        </p:txBody>
      </p:sp>
      <p:sp>
        <p:nvSpPr>
          <p:cNvPr id="14" name="text-116"/>
          <p:cNvSpPr txBox="1"/>
          <p:nvPr/>
        </p:nvSpPr>
        <p:spPr>
          <a:xfrm>
            <a:off x="1005840" y="307238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Cut-off by transfer of control</a:t>
            </a:r>
            <a:endParaRPr lang="en-US" sz="1100" dirty="0"/>
          </a:p>
        </p:txBody>
      </p:sp>
      <p:sp>
        <p:nvSpPr>
          <p:cNvPr id="15" name="dot-117"/>
          <p:cNvSpPr/>
          <p:nvPr/>
        </p:nvSpPr>
        <p:spPr>
          <a:xfrm>
            <a:off x="457200" y="37307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118"/>
          <p:cNvSpPr txBox="1"/>
          <p:nvPr/>
        </p:nvSpPr>
        <p:spPr>
          <a:xfrm>
            <a:off x="457200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D4</a:t>
            </a:r>
            <a:endParaRPr lang="en-US" sz="1100" dirty="0"/>
          </a:p>
        </p:txBody>
      </p:sp>
      <p:sp>
        <p:nvSpPr>
          <p:cNvPr id="17" name="text-119"/>
          <p:cNvSpPr txBox="1"/>
          <p:nvPr/>
        </p:nvSpPr>
        <p:spPr>
          <a:xfrm>
            <a:off x="1005840" y="373075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Turnover with no movement</a:t>
            </a:r>
            <a:endParaRPr lang="en-US" sz="1100" dirty="0"/>
          </a:p>
        </p:txBody>
      </p:sp>
      <p:sp>
        <p:nvSpPr>
          <p:cNvPr id="18" name="dot-120"/>
          <p:cNvSpPr/>
          <p:nvPr/>
        </p:nvSpPr>
        <p:spPr>
          <a:xfrm>
            <a:off x="3264408" y="109728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-121"/>
          <p:cNvSpPr txBox="1"/>
          <p:nvPr/>
        </p:nvSpPr>
        <p:spPr>
          <a:xfrm>
            <a:off x="3264408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D5</a:t>
            </a:r>
            <a:endParaRPr lang="en-US" sz="1100" dirty="0"/>
          </a:p>
        </p:txBody>
      </p:sp>
      <p:sp>
        <p:nvSpPr>
          <p:cNvPr id="20" name="text-122"/>
          <p:cNvSpPr txBox="1"/>
          <p:nvPr/>
        </p:nvSpPr>
        <p:spPr>
          <a:xfrm>
            <a:off x="3813048" y="1097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Period-end spikes in sales and discounts</a:t>
            </a:r>
            <a:endParaRPr lang="en-US" sz="1100" dirty="0"/>
          </a:p>
        </p:txBody>
      </p:sp>
      <p:sp>
        <p:nvSpPr>
          <p:cNvPr id="21" name="dot-123"/>
          <p:cNvSpPr/>
          <p:nvPr/>
        </p:nvSpPr>
        <p:spPr>
          <a:xfrm>
            <a:off x="3264408" y="1755648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-124"/>
          <p:cNvSpPr txBox="1"/>
          <p:nvPr/>
        </p:nvSpPr>
        <p:spPr>
          <a:xfrm>
            <a:off x="326440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D6</a:t>
            </a:r>
            <a:endParaRPr lang="en-US" sz="1100" dirty="0"/>
          </a:p>
        </p:txBody>
      </p:sp>
      <p:sp>
        <p:nvSpPr>
          <p:cNvPr id="23" name="text-125"/>
          <p:cNvSpPr txBox="1"/>
          <p:nvPr/>
        </p:nvSpPr>
        <p:spPr>
          <a:xfrm>
            <a:off x="3813048" y="1755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Invoice ↔ IRN ↔ e-way bill ↔ GSTR-1 ↔ books</a:t>
            </a:r>
            <a:endParaRPr lang="en-US" sz="1100" dirty="0"/>
          </a:p>
        </p:txBody>
      </p:sp>
      <p:sp>
        <p:nvSpPr>
          <p:cNvPr id="24" name="dot-126"/>
          <p:cNvSpPr/>
          <p:nvPr/>
        </p:nvSpPr>
        <p:spPr>
          <a:xfrm>
            <a:off x="3264408" y="2414016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-127"/>
          <p:cNvSpPr txBox="1"/>
          <p:nvPr/>
        </p:nvSpPr>
        <p:spPr>
          <a:xfrm>
            <a:off x="326440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D7</a:t>
            </a:r>
            <a:endParaRPr lang="en-US" sz="1100" dirty="0"/>
          </a:p>
        </p:txBody>
      </p:sp>
      <p:sp>
        <p:nvSpPr>
          <p:cNvPr id="26" name="text-128"/>
          <p:cNvSpPr txBox="1"/>
          <p:nvPr/>
        </p:nvSpPr>
        <p:spPr>
          <a:xfrm>
            <a:off x="3813048" y="24140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Revenue entries not from a sale</a:t>
            </a:r>
            <a:endParaRPr lang="en-US" sz="1100" dirty="0"/>
          </a:p>
        </p:txBody>
      </p:sp>
      <p:sp>
        <p:nvSpPr>
          <p:cNvPr id="27" name="dot-129"/>
          <p:cNvSpPr/>
          <p:nvPr/>
        </p:nvSpPr>
        <p:spPr>
          <a:xfrm>
            <a:off x="3264408" y="3072384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text-130"/>
          <p:cNvSpPr txBox="1"/>
          <p:nvPr/>
        </p:nvSpPr>
        <p:spPr>
          <a:xfrm>
            <a:off x="3264408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D8</a:t>
            </a:r>
            <a:endParaRPr lang="en-US" sz="1100" dirty="0"/>
          </a:p>
        </p:txBody>
      </p:sp>
      <p:sp>
        <p:nvSpPr>
          <p:cNvPr id="29" name="text-131"/>
          <p:cNvSpPr txBox="1"/>
          <p:nvPr/>
        </p:nvSpPr>
        <p:spPr>
          <a:xfrm>
            <a:off x="3813048" y="307238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Forged / other-transaction evidence</a:t>
            </a:r>
            <a:endParaRPr lang="en-US" sz="1100" dirty="0"/>
          </a:p>
        </p:txBody>
      </p:sp>
      <p:sp>
        <p:nvSpPr>
          <p:cNvPr id="30" name="dot-132"/>
          <p:cNvSpPr/>
          <p:nvPr/>
        </p:nvSpPr>
        <p:spPr>
          <a:xfrm>
            <a:off x="3264408" y="373075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1" name="text-133"/>
          <p:cNvSpPr txBox="1"/>
          <p:nvPr/>
        </p:nvSpPr>
        <p:spPr>
          <a:xfrm>
            <a:off x="326440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D9</a:t>
            </a:r>
            <a:endParaRPr lang="en-US" sz="1100" dirty="0"/>
          </a:p>
        </p:txBody>
      </p:sp>
      <p:sp>
        <p:nvSpPr>
          <p:cNvPr id="32" name="text-134"/>
          <p:cNvSpPr txBox="1"/>
          <p:nvPr/>
        </p:nvSpPr>
        <p:spPr>
          <a:xfrm>
            <a:off x="3813048" y="373075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Credit notes after year end</a:t>
            </a:r>
            <a:endParaRPr lang="en-US" sz="1100" dirty="0"/>
          </a:p>
        </p:txBody>
      </p:sp>
      <p:sp>
        <p:nvSpPr>
          <p:cNvPr id="33" name="dot-135"/>
          <p:cNvSpPr/>
          <p:nvPr/>
        </p:nvSpPr>
        <p:spPr>
          <a:xfrm>
            <a:off x="6071616" y="109728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text-136"/>
          <p:cNvSpPr txBox="1"/>
          <p:nvPr/>
        </p:nvSpPr>
        <p:spPr>
          <a:xfrm>
            <a:off x="6071616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D10</a:t>
            </a:r>
            <a:endParaRPr lang="en-US" sz="1100" dirty="0"/>
          </a:p>
        </p:txBody>
      </p:sp>
      <p:sp>
        <p:nvSpPr>
          <p:cNvPr id="35" name="text-137"/>
          <p:cNvSpPr txBox="1"/>
          <p:nvPr/>
        </p:nvSpPr>
        <p:spPr>
          <a:xfrm>
            <a:off x="6620256" y="1097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Circular trading</a:t>
            </a:r>
            <a:endParaRPr lang="en-US" sz="1100" dirty="0"/>
          </a:p>
        </p:txBody>
      </p:sp>
      <p:sp>
        <p:nvSpPr>
          <p:cNvPr id="36" name="dot-138"/>
          <p:cNvSpPr/>
          <p:nvPr/>
        </p:nvSpPr>
        <p:spPr>
          <a:xfrm>
            <a:off x="6071616" y="1755648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xt-139"/>
          <p:cNvSpPr txBox="1"/>
          <p:nvPr/>
        </p:nvSpPr>
        <p:spPr>
          <a:xfrm>
            <a:off x="6071616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D11</a:t>
            </a:r>
            <a:endParaRPr lang="en-US" sz="1100" dirty="0"/>
          </a:p>
        </p:txBody>
      </p:sp>
      <p:sp>
        <p:nvSpPr>
          <p:cNvPr id="38" name="text-140"/>
          <p:cNvSpPr txBox="1"/>
          <p:nvPr/>
        </p:nvSpPr>
        <p:spPr>
          <a:xfrm>
            <a:off x="6620256" y="1755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Changes after testing began</a:t>
            </a:r>
            <a:endParaRPr lang="en-US" sz="1100" dirty="0"/>
          </a:p>
        </p:txBody>
      </p:sp>
      <p:sp>
        <p:nvSpPr>
          <p:cNvPr id="39" name="dot-141"/>
          <p:cNvSpPr/>
          <p:nvPr/>
        </p:nvSpPr>
        <p:spPr>
          <a:xfrm>
            <a:off x="6071616" y="2414016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0" name="text-142"/>
          <p:cNvSpPr txBox="1"/>
          <p:nvPr/>
        </p:nvSpPr>
        <p:spPr>
          <a:xfrm>
            <a:off x="6071616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D12</a:t>
            </a:r>
            <a:endParaRPr lang="en-US" sz="1100" dirty="0"/>
          </a:p>
        </p:txBody>
      </p:sp>
      <p:sp>
        <p:nvSpPr>
          <p:cNvPr id="41" name="text-143"/>
          <p:cNvSpPr txBox="1"/>
          <p:nvPr/>
        </p:nvSpPr>
        <p:spPr>
          <a:xfrm>
            <a:off x="6620256" y="24140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Ledger and trail integrity</a:t>
            </a:r>
            <a:endParaRPr lang="en-US" sz="1100" dirty="0"/>
          </a:p>
        </p:txBody>
      </p:sp>
      <p:sp>
        <p:nvSpPr>
          <p:cNvPr id="42" name="dot-144"/>
          <p:cNvSpPr/>
          <p:nvPr/>
        </p:nvSpPr>
        <p:spPr>
          <a:xfrm>
            <a:off x="6071616" y="3072384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3" name="text-145"/>
          <p:cNvSpPr txBox="1"/>
          <p:nvPr/>
        </p:nvSpPr>
        <p:spPr>
          <a:xfrm>
            <a:off x="6071616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D13</a:t>
            </a:r>
            <a:endParaRPr lang="en-US" sz="1100" dirty="0"/>
          </a:p>
        </p:txBody>
      </p:sp>
      <p:sp>
        <p:nvSpPr>
          <p:cNvPr id="44" name="text-146"/>
          <p:cNvSpPr txBox="1"/>
          <p:nvPr/>
        </p:nvSpPr>
        <p:spPr>
          <a:xfrm>
            <a:off x="6620256" y="307238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Backdating, sequence breaks</a:t>
            </a:r>
            <a:endParaRPr lang="en-US" sz="1100" dirty="0"/>
          </a:p>
        </p:txBody>
      </p:sp>
      <p:sp>
        <p:nvSpPr>
          <p:cNvPr id="45" name="dot-147"/>
          <p:cNvSpPr/>
          <p:nvPr/>
        </p:nvSpPr>
        <p:spPr>
          <a:xfrm>
            <a:off x="6071616" y="37307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6" name="text-148"/>
          <p:cNvSpPr txBox="1"/>
          <p:nvPr/>
        </p:nvSpPr>
        <p:spPr>
          <a:xfrm>
            <a:off x="6071616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D14</a:t>
            </a:r>
            <a:endParaRPr lang="en-US" sz="1100" dirty="0"/>
          </a:p>
        </p:txBody>
      </p:sp>
      <p:sp>
        <p:nvSpPr>
          <p:cNvPr id="47" name="text-149"/>
          <p:cNvSpPr txBox="1"/>
          <p:nvPr/>
        </p:nvSpPr>
        <p:spPr>
          <a:xfrm>
            <a:off x="6620256" y="3730752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Instructions hidden in evidence</a:t>
            </a:r>
            <a:endParaRPr lang="en-US" sz="1100" dirty="0"/>
          </a:p>
        </p:txBody>
      </p:sp>
      <p:sp>
        <p:nvSpPr>
          <p:cNvPr id="48" name="text-150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Deterministic rules decide every finding (explainable, reproducible). LLMs only investigate and explain.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AuditGraph: risk that follows the money</a:t>
            </a:r>
            <a:endParaRPr lang="en-US" sz="3000" dirty="0"/>
          </a:p>
        </p:txBody>
      </p:sp>
      <p:sp>
        <p:nvSpPr>
          <p:cNvPr id="3" name="card-151"/>
          <p:cNvSpPr/>
          <p:nvPr/>
        </p:nvSpPr>
        <p:spPr>
          <a:xfrm>
            <a:off x="457200" y="1097280"/>
            <a:ext cx="402336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4" name="text-152"/>
          <p:cNvSpPr txBox="1"/>
          <p:nvPr/>
        </p:nvSpPr>
        <p:spPr>
          <a:xfrm>
            <a:off x="64008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Scores</a:t>
            </a:r>
            <a:endParaRPr lang="en-US" sz="1600" dirty="0"/>
          </a:p>
        </p:txBody>
      </p:sp>
      <p:sp>
        <p:nvSpPr>
          <p:cNvPr id="5" name="list-153"/>
          <p:cNvSpPr txBox="1"/>
          <p:nvPr/>
        </p:nvSpPr>
        <p:spPr>
          <a:xfrm>
            <a:off x="640080" y="1600200"/>
            <a:ext cx="37033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A: the invoice's own anomaly score (its detector hits)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 = 0.35·C + 0.25·F + 0.15·T + 0.15·H + 0.10·N per company: circular exposure, flagged flows, timing, open exceptions, counterparties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 = 0.7·A + 0.3·E, never below High for hard evidence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Updates on every business event; history is never overwritten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Company flag LOW / MODERATE / HIGH sets the sample size (25 / 30 / 35)</a:t>
            </a:r>
            <a:endParaRPr lang="en-US" sz="1200" dirty="0"/>
          </a:p>
        </p:txBody>
      </p:sp>
      <p:sp>
        <p:nvSpPr>
          <p:cNvPr id="6" name="card-154"/>
          <p:cNvSpPr/>
          <p:nvPr/>
        </p:nvSpPr>
        <p:spPr>
          <a:xfrm>
            <a:off x="4754880" y="1097280"/>
            <a:ext cx="39319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7" name="text-155"/>
          <p:cNvSpPr txBox="1"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Circular flow (minimum-span decomposition)</a:t>
            </a:r>
            <a:endParaRPr lang="en-US" sz="1400" dirty="0"/>
          </a:p>
        </p:txBody>
      </p:sp>
      <p:sp>
        <p:nvSpPr>
          <p:cNvPr id="8" name="dot-156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-157"/>
          <p:cNvSpPr txBox="1"/>
          <p:nvPr/>
        </p:nvSpPr>
        <p:spPr>
          <a:xfrm>
            <a:off x="63093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10" name="dot-158"/>
          <p:cNvSpPr/>
          <p:nvPr/>
        </p:nvSpPr>
        <p:spPr>
          <a:xfrm>
            <a:off x="5212080" y="28803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-159"/>
          <p:cNvSpPr txBox="1"/>
          <p:nvPr/>
        </p:nvSpPr>
        <p:spPr>
          <a:xfrm>
            <a:off x="52120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2" name="dot-160"/>
          <p:cNvSpPr/>
          <p:nvPr/>
        </p:nvSpPr>
        <p:spPr>
          <a:xfrm>
            <a:off x="7406640" y="28803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-161"/>
          <p:cNvSpPr txBox="1"/>
          <p:nvPr/>
        </p:nvSpPr>
        <p:spPr>
          <a:xfrm>
            <a:off x="7406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4" name="edge-162"/>
          <p:cNvSpPr/>
          <p:nvPr/>
        </p:nvSpPr>
        <p:spPr>
          <a:xfrm flipH="1">
            <a:off x="5486400" y="2194560"/>
            <a:ext cx="822960" cy="685800"/>
          </a:xfrm>
          <a:prstGeom prst="line">
            <a:avLst/>
          </a:prstGeom>
          <a:noFill/>
          <a:ln w="25400">
            <a:solidFill>
              <a:srgbClr val="5B6B73"/>
            </a:solidFill>
            <a:prstDash val="solid"/>
            <a:tailEnd type="triangle"/>
          </a:ln>
        </p:spPr>
      </p:sp>
      <p:sp>
        <p:nvSpPr>
          <p:cNvPr id="15" name="edge-163"/>
          <p:cNvSpPr/>
          <p:nvPr/>
        </p:nvSpPr>
        <p:spPr>
          <a:xfrm>
            <a:off x="5806440" y="3154680"/>
            <a:ext cx="1554480" cy="0"/>
          </a:xfrm>
          <a:prstGeom prst="line">
            <a:avLst/>
          </a:prstGeom>
          <a:noFill/>
          <a:ln w="25400">
            <a:solidFill>
              <a:srgbClr val="5B6B73"/>
            </a:solidFill>
            <a:prstDash val="solid"/>
            <a:tailEnd type="triangle"/>
          </a:ln>
        </p:spPr>
      </p:sp>
      <p:sp>
        <p:nvSpPr>
          <p:cNvPr id="16" name="edge-164"/>
          <p:cNvSpPr/>
          <p:nvPr/>
        </p:nvSpPr>
        <p:spPr>
          <a:xfrm>
            <a:off x="6858000" y="2194560"/>
            <a:ext cx="685800" cy="685800"/>
          </a:xfrm>
          <a:prstGeom prst="line">
            <a:avLst/>
          </a:prstGeom>
          <a:noFill/>
          <a:ln w="25400">
            <a:solidFill>
              <a:srgbClr val="5B6B73"/>
            </a:solidFill>
            <a:prstDash val="solid"/>
            <a:headEnd type="triangle"/>
          </a:ln>
        </p:spPr>
      </p:sp>
      <p:sp>
        <p:nvSpPr>
          <p:cNvPr id="17" name="text-165"/>
          <p:cNvSpPr txBox="1"/>
          <p:nvPr/>
        </p:nvSpPr>
        <p:spPr>
          <a:xfrm>
            <a:off x="5257800" y="2240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₹10 L</a:t>
            </a:r>
            <a:endParaRPr lang="en-US" sz="1100" dirty="0"/>
          </a:p>
        </p:txBody>
      </p:sp>
      <p:sp>
        <p:nvSpPr>
          <p:cNvPr id="18" name="text-166"/>
          <p:cNvSpPr txBox="1"/>
          <p:nvPr/>
        </p:nvSpPr>
        <p:spPr>
          <a:xfrm>
            <a:off x="626364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₹9 L</a:t>
            </a:r>
            <a:endParaRPr lang="en-US" sz="1100" dirty="0"/>
          </a:p>
        </p:txBody>
      </p:sp>
      <p:sp>
        <p:nvSpPr>
          <p:cNvPr id="19" name="text-167"/>
          <p:cNvSpPr txBox="1"/>
          <p:nvPr/>
        </p:nvSpPr>
        <p:spPr>
          <a:xfrm>
            <a:off x="7269480" y="22402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₹8 L</a:t>
            </a:r>
            <a:endParaRPr lang="en-US" sz="1100" dirty="0"/>
          </a:p>
        </p:txBody>
      </p:sp>
      <p:sp>
        <p:nvSpPr>
          <p:cNvPr id="20" name="text-168"/>
          <p:cNvSpPr txBox="1"/>
          <p:nvPr/>
        </p:nvSpPr>
        <p:spPr>
          <a:xfrm>
            <a:off x="4937760" y="352044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Circular value = ₹8 L; residuals 2 / 1 / 0. Reciprocal trade with matching goods (job work) is not flagged.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our synthetic company</a:t>
            </a:r>
            <a:endParaRPr lang="en-US" sz="3000" dirty="0"/>
          </a:p>
        </p:txBody>
      </p:sp>
      <p:sp>
        <p:nvSpPr>
          <p:cNvPr id="3" name="card-169"/>
          <p:cNvSpPr/>
          <p:nvPr/>
        </p:nvSpPr>
        <p:spPr>
          <a:xfrm>
            <a:off x="365760" y="1051560"/>
            <a:ext cx="5120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4" name="text-170"/>
          <p:cNvSpPr txBox="1"/>
          <p:nvPr/>
        </p:nvSpPr>
        <p:spPr>
          <a:xfrm>
            <a:off x="548640" y="1097280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5" name="text-171"/>
          <p:cNvSpPr txBox="1"/>
          <p:nvPr/>
        </p:nvSpPr>
        <p:spPr>
          <a:xfrm>
            <a:off x="2286000" y="109728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detectors with zero false alarms on 7,003 clean invoices</a:t>
            </a:r>
            <a:endParaRPr lang="en-US" sz="1300" dirty="0"/>
          </a:p>
        </p:txBody>
      </p:sp>
      <p:sp>
        <p:nvSpPr>
          <p:cNvPr id="6" name="card-172"/>
          <p:cNvSpPr/>
          <p:nvPr/>
        </p:nvSpPr>
        <p:spPr>
          <a:xfrm>
            <a:off x="365760" y="2240280"/>
            <a:ext cx="5120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7" name="text-173"/>
          <p:cNvSpPr txBox="1"/>
          <p:nvPr/>
        </p:nvSpPr>
        <p:spPr>
          <a:xfrm>
            <a:off x="548640" y="2286000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cycles</a:t>
            </a:r>
            <a:endParaRPr lang="en-US" sz="2800" dirty="0"/>
          </a:p>
        </p:txBody>
      </p:sp>
      <p:sp>
        <p:nvSpPr>
          <p:cNvPr id="8" name="text-174"/>
          <p:cNvSpPr txBox="1"/>
          <p:nvPr/>
        </p:nvSpPr>
        <p:spPr>
          <a:xfrm>
            <a:off x="2286000" y="228600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found in the planted trading network: ₹5.64 Cr circular value</a:t>
            </a:r>
            <a:endParaRPr lang="en-US" sz="1300" dirty="0"/>
          </a:p>
        </p:txBody>
      </p:sp>
      <p:sp>
        <p:nvSpPr>
          <p:cNvPr id="9" name="card-175"/>
          <p:cNvSpPr/>
          <p:nvPr/>
        </p:nvSpPr>
        <p:spPr>
          <a:xfrm>
            <a:off x="365760" y="3429000"/>
            <a:ext cx="51206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0" name="text-176"/>
          <p:cNvSpPr txBox="1"/>
          <p:nvPr/>
        </p:nvSpPr>
        <p:spPr>
          <a:xfrm>
            <a:off x="548640" y="3474720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 s</a:t>
            </a:r>
            <a:endParaRPr lang="en-US" sz="2800" dirty="0"/>
          </a:p>
        </p:txBody>
      </p:sp>
      <p:sp>
        <p:nvSpPr>
          <p:cNvPr id="11" name="text-177"/>
          <p:cNvSpPr txBox="1"/>
          <p:nvPr/>
        </p:nvSpPr>
        <p:spPr>
          <a:xfrm>
            <a:off x="2286000" y="347472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 run all detectors over 100% of the year on a laptop CPU</a:t>
            </a:r>
            <a:endParaRPr lang="en-US" sz="1300" dirty="0"/>
          </a:p>
        </p:txBody>
      </p:sp>
      <p:sp>
        <p:nvSpPr>
          <p:cNvPr id="12" name="text-178"/>
          <p:cNvSpPr txBox="1"/>
          <p:nvPr/>
        </p:nvSpPr>
        <p:spPr>
          <a:xfrm>
            <a:off x="5760720" y="105156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Recall per irregularity family and the AuditGraph ablation appear here once the planted set and answer key are complete (python -m app.evaluate).</a:t>
            </a:r>
            <a:endParaRPr lang="en-US" sz="1300" dirty="0"/>
          </a:p>
        </p:txBody>
      </p:sp>
      <p:sp>
        <p:nvSpPr>
          <p:cNvPr id="13" name="text-179"/>
          <p:cNvSpPr txBox="1"/>
          <p:nvPr/>
        </p:nvSpPr>
        <p:spPr>
          <a:xfrm>
            <a:off x="365760" y="46177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Prototype performance on a dataset we designed (7,000 invoices, planted irregularities kept in a held-out answer key the engine never reads). Not a claim of real-world accuracy.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plant it, catch it, sign it</a:t>
            </a:r>
            <a:endParaRPr lang="en-US" sz="3000" dirty="0"/>
          </a:p>
        </p:txBody>
      </p:sp>
      <p:sp>
        <p:nvSpPr>
          <p:cNvPr id="3" name="dot-180"/>
          <p:cNvSpPr/>
          <p:nvPr/>
        </p:nvSpPr>
        <p:spPr>
          <a:xfrm>
            <a:off x="457200" y="105156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-181"/>
          <p:cNvSpPr txBox="1"/>
          <p:nvPr/>
        </p:nvSpPr>
        <p:spPr>
          <a:xfrm>
            <a:off x="457200" y="1051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-182"/>
          <p:cNvSpPr txBox="1"/>
          <p:nvPr/>
        </p:nvSpPr>
        <p:spPr>
          <a:xfrm>
            <a:off x="1051560" y="101498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Judge card: the auditor token can't even see client tools</a:t>
            </a:r>
            <a:endParaRPr lang="en-US" sz="1300" dirty="0"/>
          </a:p>
        </p:txBody>
      </p:sp>
      <p:sp>
        <p:nvSpPr>
          <p:cNvPr id="6" name="dot-183"/>
          <p:cNvSpPr/>
          <p:nvPr/>
        </p:nvSpPr>
        <p:spPr>
          <a:xfrm>
            <a:off x="457200" y="165506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-184"/>
          <p:cNvSpPr txBox="1"/>
          <p:nvPr/>
        </p:nvSpPr>
        <p:spPr>
          <a:xfrm>
            <a:off x="457200" y="16550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-185"/>
          <p:cNvSpPr txBox="1"/>
          <p:nvPr/>
        </p:nvSpPr>
        <p:spPr>
          <a:xfrm>
            <a:off x="1051560" y="161848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Replay the year: risk scores move as events arrive</a:t>
            </a:r>
            <a:endParaRPr lang="en-US" sz="1300" dirty="0"/>
          </a:p>
        </p:txBody>
      </p:sp>
      <p:sp>
        <p:nvSpPr>
          <p:cNvPr id="9" name="dot-186"/>
          <p:cNvSpPr/>
          <p:nvPr/>
        </p:nvSpPr>
        <p:spPr>
          <a:xfrm>
            <a:off x="457200" y="22585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187"/>
          <p:cNvSpPr txBox="1"/>
          <p:nvPr/>
        </p:nvSpPr>
        <p:spPr>
          <a:xfrm>
            <a:off x="457200" y="22585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-188"/>
          <p:cNvSpPr txBox="1"/>
          <p:nvPr/>
        </p:nvSpPr>
        <p:spPr>
          <a:xfrm>
            <a:off x="1051560" y="2221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As the client: plant a 31-Mar invoice shipped 2-Apr, a director's bank account on a customer, a manual sales journal; upload a doctored register</a:t>
            </a:r>
            <a:endParaRPr lang="en-US" sz="1300" dirty="0"/>
          </a:p>
        </p:txBody>
      </p:sp>
      <p:sp>
        <p:nvSpPr>
          <p:cNvPr id="12" name="dot-189"/>
          <p:cNvSpPr/>
          <p:nvPr/>
        </p:nvSpPr>
        <p:spPr>
          <a:xfrm>
            <a:off x="457200" y="28620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190"/>
          <p:cNvSpPr txBox="1"/>
          <p:nvPr/>
        </p:nvSpPr>
        <p:spPr>
          <a:xfrm>
            <a:off x="457200" y="2862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-191"/>
          <p:cNvSpPr txBox="1"/>
          <p:nvPr/>
        </p:nvSpPr>
        <p:spPr>
          <a:xfrm>
            <a:off x="1051560" y="282549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As the auditor: reconcile → analytics → risk-based samples with seed and reasons → forged evidence caught</a:t>
            </a:r>
            <a:endParaRPr lang="en-US" sz="1300" dirty="0"/>
          </a:p>
        </p:txBody>
      </p:sp>
      <p:sp>
        <p:nvSpPr>
          <p:cNvPr id="15" name="dot-192"/>
          <p:cNvSpPr/>
          <p:nvPr/>
        </p:nvSpPr>
        <p:spPr>
          <a:xfrm>
            <a:off x="457200" y="3465576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193"/>
          <p:cNvSpPr txBox="1"/>
          <p:nvPr/>
        </p:nvSpPr>
        <p:spPr>
          <a:xfrm>
            <a:off x="457200" y="34655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-194"/>
          <p:cNvSpPr txBox="1"/>
          <p:nvPr/>
        </p:nvSpPr>
        <p:spPr>
          <a:xfrm>
            <a:off x="1051560" y="342900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Client edits an LR date → the stale sample is named; a direct DB edit → integrity alert</a:t>
            </a:r>
            <a:endParaRPr lang="en-US" sz="1300" dirty="0"/>
          </a:p>
        </p:txBody>
      </p:sp>
      <p:sp>
        <p:nvSpPr>
          <p:cNvPr id="18" name="dot-195"/>
          <p:cNvSpPr/>
          <p:nvPr/>
        </p:nvSpPr>
        <p:spPr>
          <a:xfrm>
            <a:off x="457200" y="406908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-196"/>
          <p:cNvSpPr txBox="1"/>
          <p:nvPr/>
        </p:nvSpPr>
        <p:spPr>
          <a:xfrm>
            <a:off x="457200" y="4069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-197"/>
          <p:cNvSpPr txBox="1"/>
          <p:nvPr/>
        </p:nvSpPr>
        <p:spPr>
          <a:xfrm>
            <a:off x="1051560" y="403250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Partner confirms findings and signs off; workpaper + memo + trail verified offline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Deliverables a partner would sign</a:t>
            </a:r>
            <a:endParaRPr lang="en-US" sz="3000" dirty="0"/>
          </a:p>
        </p:txBody>
      </p:sp>
      <p:sp>
        <p:nvSpPr>
          <p:cNvPr id="3" name="card-198"/>
          <p:cNvSpPr/>
          <p:nvPr/>
        </p:nvSpPr>
        <p:spPr>
          <a:xfrm>
            <a:off x="457200" y="109728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4" name="dot-199"/>
          <p:cNvSpPr/>
          <p:nvPr/>
        </p:nvSpPr>
        <p:spPr>
          <a:xfrm>
            <a:off x="640080" y="1234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-200"/>
          <p:cNvSpPr txBox="1"/>
          <p:nvPr/>
        </p:nvSpPr>
        <p:spPr>
          <a:xfrm>
            <a:off x="6400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-201"/>
          <p:cNvSpPr txBox="1"/>
          <p:nvPr/>
        </p:nvSpPr>
        <p:spPr>
          <a:xfrm>
            <a:off x="1188720" y="1234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Workpaper (.xlsx)</a:t>
            </a:r>
            <a:endParaRPr lang="en-US" sz="1500" dirty="0"/>
          </a:p>
        </p:txBody>
      </p:sp>
      <p:sp>
        <p:nvSpPr>
          <p:cNvPr id="7" name="list-202"/>
          <p:cNvSpPr txBox="1"/>
          <p:nvPr/>
        </p:nvSpPr>
        <p:spPr>
          <a:xfrm>
            <a:off x="594360" y="182880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Sales Register pasted exactly as received + auditor columns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Sales TOD, Sales Cut-off TOD, Credit Note TOD in the PS figure layout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Objective, work done, tick marks, prepared / reviewed</a:t>
            </a:r>
            <a:endParaRPr lang="en-US" sz="1200" dirty="0"/>
          </a:p>
        </p:txBody>
      </p:sp>
      <p:sp>
        <p:nvSpPr>
          <p:cNvPr id="8" name="card-203"/>
          <p:cNvSpPr/>
          <p:nvPr/>
        </p:nvSpPr>
        <p:spPr>
          <a:xfrm>
            <a:off x="3246120" y="109728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9" name="dot-204"/>
          <p:cNvSpPr/>
          <p:nvPr/>
        </p:nvSpPr>
        <p:spPr>
          <a:xfrm>
            <a:off x="3429000" y="1234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-205"/>
          <p:cNvSpPr txBox="1"/>
          <p:nvPr/>
        </p:nvSpPr>
        <p:spPr>
          <a:xfrm>
            <a:off x="34290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1" name="text-206"/>
          <p:cNvSpPr txBox="1"/>
          <p:nvPr/>
        </p:nvSpPr>
        <p:spPr>
          <a:xfrm>
            <a:off x="3977640" y="1234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Findings memo</a:t>
            </a:r>
            <a:endParaRPr lang="en-US" sz="1500" dirty="0"/>
          </a:p>
        </p:txBody>
      </p:sp>
      <p:sp>
        <p:nvSpPr>
          <p:cNvPr id="12" name="list-207"/>
          <p:cNvSpPr txBox="1"/>
          <p:nvPr/>
        </p:nvSpPr>
        <p:spPr>
          <a:xfrm>
            <a:off x="3383280" y="182880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Each finding in plain language with the SA / Ind AS / GST basis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₹ impact and proposed adjusting entries (GST treated correctly)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 450 summary, s.143(12) consideration</a:t>
            </a:r>
            <a:endParaRPr lang="en-US" sz="1200" dirty="0"/>
          </a:p>
        </p:txBody>
      </p:sp>
      <p:sp>
        <p:nvSpPr>
          <p:cNvPr id="13" name="card-208"/>
          <p:cNvSpPr/>
          <p:nvPr/>
        </p:nvSpPr>
        <p:spPr>
          <a:xfrm>
            <a:off x="6035040" y="1097280"/>
            <a:ext cx="2606040" cy="32004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4" name="dot-209"/>
          <p:cNvSpPr/>
          <p:nvPr/>
        </p:nvSpPr>
        <p:spPr>
          <a:xfrm>
            <a:off x="6217920" y="12344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-210"/>
          <p:cNvSpPr txBox="1"/>
          <p:nvPr/>
        </p:nvSpPr>
        <p:spPr>
          <a:xfrm>
            <a:off x="6217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-211"/>
          <p:cNvSpPr txBox="1"/>
          <p:nvPr/>
        </p:nvSpPr>
        <p:spPr>
          <a:xfrm>
            <a:off x="6766560" y="1234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list-212"/>
          <p:cNvSpPr txBox="1"/>
          <p:nvPr/>
        </p:nvSpPr>
        <p:spPr>
          <a:xfrm>
            <a:off x="6172200" y="182880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agent and human action, hash-chained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Anchored to the books' chain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Verifiable offline with one script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our sponsors, honest about limits</a:t>
            </a:r>
            <a:endParaRPr lang="en-US" sz="3000" dirty="0"/>
          </a:p>
        </p:txBody>
      </p:sp>
      <p:sp>
        <p:nvSpPr>
          <p:cNvPr id="3" name="card-213"/>
          <p:cNvSpPr/>
          <p:nvPr/>
        </p:nvSpPr>
        <p:spPr>
          <a:xfrm>
            <a:off x="457200" y="1051560"/>
            <a:ext cx="42062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4" name="text-214"/>
          <p:cNvSpPr txBox="1"/>
          <p:nvPr/>
        </p:nvSpPr>
        <p:spPr>
          <a:xfrm>
            <a:off x="594360" y="105156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Voroa</a:t>
            </a:r>
            <a:endParaRPr lang="en-US" sz="1400" dirty="0"/>
          </a:p>
        </p:txBody>
      </p:sp>
      <p:sp>
        <p:nvSpPr>
          <p:cNvPr id="5" name="text-215"/>
          <p:cNvSpPr txBox="1"/>
          <p:nvPr/>
        </p:nvSpPr>
        <p:spPr>
          <a:xfrm>
            <a:off x="1737360" y="105156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Hosts both services; runs on 2 vCPU / 4 GB, no GPU</a:t>
            </a:r>
            <a:endParaRPr lang="en-US" sz="1100" dirty="0"/>
          </a:p>
        </p:txBody>
      </p:sp>
      <p:sp>
        <p:nvSpPr>
          <p:cNvPr id="6" name="card-216"/>
          <p:cNvSpPr/>
          <p:nvPr/>
        </p:nvSpPr>
        <p:spPr>
          <a:xfrm>
            <a:off x="457200" y="1828800"/>
            <a:ext cx="42062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7" name="text-217"/>
          <p:cNvSpPr txBox="1"/>
          <p:nvPr/>
        </p:nvSpPr>
        <p:spPr>
          <a:xfrm>
            <a:off x="594360" y="182880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n8n</a:t>
            </a:r>
            <a:endParaRPr lang="en-US" sz="1400" dirty="0"/>
          </a:p>
        </p:txBody>
      </p:sp>
      <p:sp>
        <p:nvSpPr>
          <p:cNvPr id="8" name="text-218"/>
          <p:cNvSpPr txBox="1"/>
          <p:nvPr/>
        </p:nvSpPr>
        <p:spPr>
          <a:xfrm>
            <a:off x="1737360" y="18288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Upload alerts, evidence emails and reminders, 15-min continuous monitoring via MCP</a:t>
            </a:r>
            <a:endParaRPr lang="en-US" sz="1100" dirty="0"/>
          </a:p>
        </p:txBody>
      </p:sp>
      <p:sp>
        <p:nvSpPr>
          <p:cNvPr id="9" name="card-219"/>
          <p:cNvSpPr/>
          <p:nvPr/>
        </p:nvSpPr>
        <p:spPr>
          <a:xfrm>
            <a:off x="457200" y="2606040"/>
            <a:ext cx="42062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0" name="text-220"/>
          <p:cNvSpPr txBox="1"/>
          <p:nvPr/>
        </p:nvSpPr>
        <p:spPr>
          <a:xfrm>
            <a:off x="594360" y="26060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ShipReady</a:t>
            </a:r>
            <a:endParaRPr lang="en-US" sz="1400" dirty="0"/>
          </a:p>
        </p:txBody>
      </p:sp>
      <p:sp>
        <p:nvSpPr>
          <p:cNvPr id="11" name="text-221"/>
          <p:cNvSpPr txBox="1"/>
          <p:nvPr/>
        </p:nvSpPr>
        <p:spPr>
          <a:xfrm>
            <a:off x="1737360" y="26060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Shopify connector feeding orders, discounts and refunds into the system of record</a:t>
            </a:r>
            <a:endParaRPr lang="en-US" sz="1100" dirty="0"/>
          </a:p>
        </p:txBody>
      </p:sp>
      <p:sp>
        <p:nvSpPr>
          <p:cNvPr id="12" name="card-222"/>
          <p:cNvSpPr/>
          <p:nvPr/>
        </p:nvSpPr>
        <p:spPr>
          <a:xfrm>
            <a:off x="457200" y="3383280"/>
            <a:ext cx="420624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3" name="text-223"/>
          <p:cNvSpPr txBox="1"/>
          <p:nvPr/>
        </p:nvSpPr>
        <p:spPr>
          <a:xfrm>
            <a:off x="594360" y="338328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OpenAI</a:t>
            </a:r>
            <a:endParaRPr lang="en-US" sz="1400" dirty="0"/>
          </a:p>
        </p:txBody>
      </p:sp>
      <p:sp>
        <p:nvSpPr>
          <p:cNvPr id="14" name="text-224"/>
          <p:cNvSpPr txBox="1"/>
          <p:nvPr/>
        </p:nvSpPr>
        <p:spPr>
          <a:xfrm>
            <a:off x="1737360" y="33832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Investigator agent (just another MCP client) and document reading, under a cost cap</a:t>
            </a:r>
            <a:endParaRPr lang="en-US" sz="1100" dirty="0"/>
          </a:p>
        </p:txBody>
      </p:sp>
      <p:sp>
        <p:nvSpPr>
          <p:cNvPr id="15" name="card-225"/>
          <p:cNvSpPr/>
          <p:nvPr/>
        </p:nvSpPr>
        <p:spPr>
          <a:xfrm>
            <a:off x="4937760" y="1051560"/>
            <a:ext cx="384048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50800" dist="19050" dir="5400000">
              <a:srgbClr val="9AA8A6">
                <a:alpha val="25000"/>
              </a:srgbClr>
            </a:outerShdw>
          </a:effectLst>
        </p:spPr>
      </p:sp>
      <p:sp>
        <p:nvSpPr>
          <p:cNvPr id="16" name="text-226"/>
          <p:cNvSpPr txBox="1"/>
          <p:nvPr/>
        </p:nvSpPr>
        <p:spPr>
          <a:xfrm>
            <a:off x="5120640" y="1143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Limitations</a:t>
            </a:r>
            <a:endParaRPr lang="en-US" sz="1600" dirty="0"/>
          </a:p>
        </p:txBody>
      </p:sp>
      <p:sp>
        <p:nvSpPr>
          <p:cNvPr id="17" name="list-227"/>
          <p:cNvSpPr txBox="1"/>
          <p:nvPr/>
        </p:nvSpPr>
        <p:spPr>
          <a:xfrm>
            <a:off x="5120640" y="1554480"/>
            <a:ext cx="35204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Government and bank records are simulated: they show how a real portal check works, not real independence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graph only sees entities we have records for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Weights are provisional; scores rank risk, they are not fraud probabilities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Accuracy is measured on our own synthetic data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 your agent and try to fool 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endpoint on Voroa + a token from the judge card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add --transport http auditpilot &lt;url&gt;/mcp --header "Authorization: Bearer aud_…"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ELEV01: Shriyans · Ibrahim · Darshan · Aarav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ditPilot Ledger">
  <a:themeElements>
    <a:clrScheme name="AuditPilot Ledger">
      <a:dk1>
        <a:srgbClr val="1B2A2A"/>
      </a:dk1>
      <a:lt1>
        <a:srgbClr val="FFFFFF"/>
      </a:lt1>
      <a:dk2>
        <a:srgbClr val="0B3D3A"/>
      </a:dk2>
      <a:lt2>
        <a:srgbClr val="EEF4F2"/>
      </a:lt2>
      <a:accent1>
        <a:srgbClr val="0B7A6F"/>
      </a:accent1>
      <a:accent2>
        <a:srgbClr val="F2A541"/>
      </a:accent2>
      <a:accent3>
        <a:srgbClr val="C0392B"/>
      </a:accent3>
      <a:accent4>
        <a:srgbClr val="5B6B73"/>
      </a:accent4>
      <a:accent5>
        <a:srgbClr val="2E86AB"/>
      </a:accent5>
      <a:accent6>
        <a:srgbClr val="7A9E7E"/>
      </a:accent6>
      <a:hlink>
        <a:srgbClr val="0B7A6F"/>
      </a:hlink>
      <a:folHlink>
        <a:srgbClr val="5B6B73"/>
      </a:folHlink>
    </a:clrScheme>
    <a:fontScheme name="AuditPilot Ledg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ELEVATE 1.0 DJSCE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AuditPilot AI: AI-run statutory revenue audit</dc:title>
  <dc:subject>PptxGenJS Presentation</dc:subject>
  <dc:creator>Team ELEV01: Shriyans, Ibrahim, Darshan, Aarav</dc:creator>
  <cp:lastModifiedBy>Team ELEV01: Shriyans, Ibrahim, Darshan, Aarav</cp:lastModifiedBy>
  <cp:revision>1</cp:revision>
  <dcterms:created xsi:type="dcterms:W3CDTF">2026-10-10T11:35:05Z</dcterms:created>
  <dcterms:modified xsi:type="dcterms:W3CDTF">2026-10-10T11:35:05Z</dcterms:modified>
</cp:coreProperties>
</file>