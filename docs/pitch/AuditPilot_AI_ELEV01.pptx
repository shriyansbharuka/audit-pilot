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748aeff-67e8-0185-fb2b-15c291723f31}">
          <p14:sldIdLst>
            <p14:sldId id="256"/>
            <p14:sldId id="257"/>
          </p14:sldIdLst>
        </p14:section>
        <p14:section name="Solution" id="{e756fb3a-7146-0757-6ef3-7b21385d06b7}">
          <p14:sldIdLst>
            <p14:sldId id="258"/>
            <p14:sldId id="259"/>
            <p14:sldId id="260"/>
          </p14:sldIdLst>
        </p14:section>
        <p14:section name="Trust" id="{2b20497b-a929-ecc9-11af-330ed7631b2e}">
          <p14:sldIdLst>
            <p14:sldId id="261"/>
          </p14:sldIdLst>
        </p14:section>
        <p14:section name="Detection" id="{caf675d0-3a87-e2a2-45fa-6a660a8298f6}">
          <p14:sldIdLst>
            <p14:sldId id="262"/>
            <p14:sldId id="263"/>
          </p14:sldIdLst>
        </p14:section>
        <p14:section name="Evidence" id="{ce2a42f1-b199-7426-2140-e91a7c9674a0}">
          <p14:sldIdLst>
            <p14:sldId id="264"/>
            <p14:sldId id="265"/>
            <p14:sldId id="266"/>
          </p14:sldIdLst>
        </p14:section>
        <p14:section name="Close" id="{90ffa0c0-d385-3689-0b86-24f2f9aff51e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D3A"/>
                </a:solidFill>
                <a:latin typeface="+mn-lt"/>
              </a:rPr>
              <a:t>Planted irregularities caught, by family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B7A6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Undisclosed RP</c:v>
                  </c:pt>
                  <c:pt idx="1">
                    <c:v>RP mid-period</c:v>
                  </c:pt>
                  <c:pt idx="2">
                    <c:v>Cut-off</c:v>
                  </c:pt>
                  <c:pt idx="3">
                    <c:v>No movement</c:v>
                  </c:pt>
                  <c:pt idx="4">
                    <c:v>Concentration</c:v>
                  </c:pt>
                  <c:pt idx="5">
                    <c:v>Statutory</c:v>
                  </c:pt>
                  <c:pt idx="6">
                    <c:v>Non-sale revenue</c:v>
                  </c:pt>
                  <c:pt idx="7">
                    <c:v>Credit notes</c:v>
                  </c:pt>
                  <c:pt idx="8">
                    <c:v>Circular</c:v>
                  </c:pt>
                  <c:pt idx="9">
                    <c:v>Register ≠ books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built the company's system of record and audit 100% of it, through an MCP server any AI agent can use, under strict auditor independence, with a human partner signing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4% figure is our own calculation: a uniform random sample of 30 from 7,000 contains at least one of 10 planted invoices only about 4% of the time. So sampling cannot be the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1:1 to the 'beyond the core' section of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PS says deciding what must exist to prove a sale is part of the problem. This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app is itself just another MCP client, so it gets exactly the user's permissions and every click is in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live: an auditor-token call to create_sales_order is refused and logged; editing the SQLite file directly is caught by verify_integrity.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hit carries a plain-language reason, the standard (SA / Ind AS / GST), the rupee impact and a proposed adjusting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from 'A Graph Theoretical Approach for Identifying Fraudulent Transactions in Circular Trading' (2017). Cycles close only through the audited company, shared identifiers or group companies: we don't invent visibility into third parties'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python -m app.demo_audit on 7,003 invoices with 31 planted irregularities: 31/31 caught, zero serious false alarms. Latency measured on a laptop CPU: upload to risk map under a minute; a live client edit re-scores that customer in about 1-3 s. Honest caveat: on this data the transaction-only ranking already puts every planted invoice in the top 30, so we don't claim a ranking lift from the graph; it earns its keep on the party view (round trips, undisclosed related parties). Full numbers in docs/FEASIBILITY.md.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 minutes. Backup: the screen recording, in case the venue network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proposes; the human partner decides every finding with a mandatory comment, then signs off with the identity 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limitations out loud: judges reward honesty about what a prototype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judges to plant their own irregularities live with the client token and audit with the auditor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AuditPilot 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business, not the spreadsheet.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AI-run statutory revenue audit an engagement partner would sign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1.0 · PS-04 · Team ELEV01: Shriyans · Ibrahim · Darshan · Aarav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audit tests the spreadsheet</a:t>
            </a:r>
            <a:endParaRPr lang="en-US" sz="30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text-2"/>
          <p:cNvSpPr txBox="1"/>
          <p:nvPr/>
        </p:nvSpPr>
        <p:spPr>
          <a:xfrm>
            <a:off x="640080" y="1325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</a:t>
            </a:r>
            <a:endParaRPr lang="en-US" sz="4400" dirty="0"/>
          </a:p>
        </p:txBody>
      </p:sp>
      <p:sp>
        <p:nvSpPr>
          <p:cNvPr id="5" name="text-3"/>
          <p:cNvSpPr txBox="1"/>
          <p:nvPr/>
        </p:nvSpPr>
        <p:spPr>
          <a:xfrm>
            <a:off x="64008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a year in a mid-size manufacturer</a:t>
            </a:r>
            <a:endParaRPr lang="en-US" sz="1400" dirty="0"/>
          </a:p>
        </p:txBody>
      </p:sp>
      <p:sp>
        <p:nvSpPr>
          <p:cNvPr id="6" name="card-4"/>
          <p:cNvSpPr/>
          <p:nvPr/>
        </p:nvSpPr>
        <p:spPr>
          <a:xfrm>
            <a:off x="3246120" y="118872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7" name="text-5"/>
          <p:cNvSpPr txBox="1"/>
          <p:nvPr/>
        </p:nvSpPr>
        <p:spPr>
          <a:xfrm>
            <a:off x="3429000" y="1325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</a:t>
            </a:r>
            <a:endParaRPr lang="en-US" sz="4400" dirty="0"/>
          </a:p>
        </p:txBody>
      </p:sp>
      <p:sp>
        <p:nvSpPr>
          <p:cNvPr id="8" name="text-6"/>
          <p:cNvSpPr txBox="1"/>
          <p:nvPr/>
        </p:nvSpPr>
        <p:spPr>
          <a:xfrm>
            <a:off x="342900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them tested, picked on judgment</a:t>
            </a:r>
            <a:endParaRPr lang="en-US" sz="1400" dirty="0"/>
          </a:p>
        </p:txBody>
      </p:sp>
      <p:sp>
        <p:nvSpPr>
          <p:cNvPr id="9" name="card-7"/>
          <p:cNvSpPr/>
          <p:nvPr/>
        </p:nvSpPr>
        <p:spPr>
          <a:xfrm>
            <a:off x="6035040" y="118872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0" name="text-8"/>
          <p:cNvSpPr txBox="1"/>
          <p:nvPr/>
        </p:nvSpPr>
        <p:spPr>
          <a:xfrm>
            <a:off x="6217920" y="1325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~4%</a:t>
            </a:r>
            <a:endParaRPr lang="en-US" sz="4400" dirty="0"/>
          </a:p>
        </p:txBody>
      </p:sp>
      <p:sp>
        <p:nvSpPr>
          <p:cNvPr id="11" name="text-9"/>
          <p:cNvSpPr txBox="1"/>
          <p:nvPr/>
        </p:nvSpPr>
        <p:spPr>
          <a:xfrm>
            <a:off x="621792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chance 30 random samples catch any of 10 planted sales</a:t>
            </a:r>
            <a:endParaRPr lang="en-US" sz="1400" dirty="0"/>
          </a:p>
        </p:txBody>
      </p:sp>
      <p:sp>
        <p:nvSpPr>
          <p:cNvPr id="12" name="text-10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auditor only sees the client's export, never what was promised, what physically moved, or what was reversed after year end. Fake invoices, circular trading, period-end stuffing and hidden related-party sales hide behind paperwork that looks complete.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answer: four ideas</a:t>
            </a:r>
            <a:endParaRPr lang="en-US" sz="3000" dirty="0"/>
          </a:p>
        </p:txBody>
      </p:sp>
      <p:sp>
        <p:nvSpPr>
          <p:cNvPr id="3" name="card-11"/>
          <p:cNvSpPr/>
          <p:nvPr/>
        </p:nvSpPr>
        <p:spPr>
          <a:xfrm>
            <a:off x="45720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dot-12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3"/>
          <p:cNvSpPr txBox="1"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-14"/>
          <p:cNvSpPr txBox="1"/>
          <p:nvPr/>
        </p:nvSpPr>
        <p:spPr>
          <a:xfrm>
            <a:off x="141732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system of record</a:t>
            </a:r>
            <a:endParaRPr lang="en-US" sz="1700" dirty="0"/>
          </a:p>
        </p:txBody>
      </p:sp>
      <p:sp>
        <p:nvSpPr>
          <p:cNvPr id="7" name="text-15"/>
          <p:cNvSpPr txBox="1"/>
          <p:nvPr/>
        </p:nvSpPr>
        <p:spPr>
          <a:xfrm>
            <a:off x="141732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Enquiry → order → dispatch → invoice → payment, on a tamper-evident ledger with mock GST portals</a:t>
            </a:r>
            <a:endParaRPr lang="en-US" sz="1300" dirty="0"/>
          </a:p>
        </p:txBody>
      </p:sp>
      <p:sp>
        <p:nvSpPr>
          <p:cNvPr id="8" name="card-16"/>
          <p:cNvSpPr/>
          <p:nvPr/>
        </p:nvSpPr>
        <p:spPr>
          <a:xfrm>
            <a:off x="466344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9" name="dot-17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8"/>
          <p:cNvSpPr txBox="1"/>
          <p:nvPr/>
        </p:nvSpPr>
        <p:spPr>
          <a:xfrm>
            <a:off x="4892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-19"/>
          <p:cNvSpPr txBox="1"/>
          <p:nvPr/>
        </p:nvSpPr>
        <p:spPr>
          <a:xfrm>
            <a:off x="562356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 100%, sample to prove</a:t>
            </a:r>
            <a:endParaRPr lang="en-US" sz="1700" dirty="0"/>
          </a:p>
        </p:txBody>
      </p:sp>
      <p:sp>
        <p:nvSpPr>
          <p:cNvPr id="12" name="text-20"/>
          <p:cNvSpPr txBox="1"/>
          <p:nvPr/>
        </p:nvSpPr>
        <p:spPr>
          <a:xfrm>
            <a:off x="562356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 detectors over every sale; samples only for evidence vouching</a:t>
            </a:r>
            <a:endParaRPr lang="en-US" sz="1300" dirty="0"/>
          </a:p>
        </p:txBody>
      </p:sp>
      <p:sp>
        <p:nvSpPr>
          <p:cNvPr id="13" name="card-21"/>
          <p:cNvSpPr/>
          <p:nvPr/>
        </p:nvSpPr>
        <p:spPr>
          <a:xfrm>
            <a:off x="45720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4" name="dot-22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23"/>
          <p:cNvSpPr txBox="1"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-24"/>
          <p:cNvSpPr txBox="1"/>
          <p:nvPr/>
        </p:nvSpPr>
        <p:spPr>
          <a:xfrm>
            <a:off x="14173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AuditGraph risk engine</a:t>
            </a:r>
            <a:endParaRPr lang="en-US" sz="1700" dirty="0"/>
          </a:p>
        </p:txBody>
      </p:sp>
      <p:sp>
        <p:nvSpPr>
          <p:cNvPr id="17" name="text-25"/>
          <p:cNvSpPr txBox="1"/>
          <p:nvPr/>
        </p:nvSpPr>
        <p:spPr>
          <a:xfrm>
            <a:off x="141732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Transaction + company risk on a temporal graph, incl. circular-trading value</a:t>
            </a:r>
            <a:endParaRPr lang="en-US" sz="1300" dirty="0"/>
          </a:p>
        </p:txBody>
      </p:sp>
      <p:sp>
        <p:nvSpPr>
          <p:cNvPr id="18" name="card-26"/>
          <p:cNvSpPr/>
          <p:nvPr/>
        </p:nvSpPr>
        <p:spPr>
          <a:xfrm>
            <a:off x="466344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9" name="dot-27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28"/>
          <p:cNvSpPr txBox="1"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-29"/>
          <p:cNvSpPr txBox="1"/>
          <p:nvPr/>
        </p:nvSpPr>
        <p:spPr>
          <a:xfrm>
            <a:off x="56235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MCP under independence</a:t>
            </a:r>
            <a:endParaRPr lang="en-US" sz="1700" dirty="0"/>
          </a:p>
        </p:txBody>
      </p:sp>
      <p:sp>
        <p:nvSpPr>
          <p:cNvPr id="22" name="text-30"/>
          <p:cNvSpPr txBox="1"/>
          <p:nvPr/>
        </p:nvSpPr>
        <p:spPr>
          <a:xfrm>
            <a:off x="562356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Any agent with a token runs the business or audits it; the auditor can never write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proves a sale really happened</a:t>
            </a:r>
            <a:endParaRPr lang="en-US" sz="3000" dirty="0"/>
          </a:p>
        </p:txBody>
      </p:sp>
      <p:sp>
        <p:nvSpPr>
          <p:cNvPr id="3" name="card-31"/>
          <p:cNvSpPr/>
          <p:nvPr/>
        </p:nvSpPr>
        <p:spPr>
          <a:xfrm>
            <a:off x="411480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dot-32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33"/>
          <p:cNvSpPr txBox="1"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34"/>
          <p:cNvSpPr txBox="1"/>
          <p:nvPr/>
        </p:nvSpPr>
        <p:spPr>
          <a:xfrm>
            <a:off x="4572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Enquiry</a:t>
            </a:r>
            <a:endParaRPr lang="en-US" sz="1300" dirty="0"/>
          </a:p>
        </p:txBody>
      </p:sp>
      <p:sp>
        <p:nvSpPr>
          <p:cNvPr id="7" name="text-35"/>
          <p:cNvSpPr txBox="1"/>
          <p:nvPr/>
        </p:nvSpPr>
        <p:spPr>
          <a:xfrm>
            <a:off x="45720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lead, contact</a:t>
            </a:r>
            <a:endParaRPr lang="en-US" sz="1000" dirty="0"/>
          </a:p>
        </p:txBody>
      </p:sp>
      <p:sp>
        <p:nvSpPr>
          <p:cNvPr id="8" name="card-36"/>
          <p:cNvSpPr/>
          <p:nvPr/>
        </p:nvSpPr>
        <p:spPr>
          <a:xfrm>
            <a:off x="1810512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9" name="dot-37"/>
          <p:cNvSpPr/>
          <p:nvPr/>
        </p:nvSpPr>
        <p:spPr>
          <a:xfrm>
            <a:off x="2221992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38"/>
          <p:cNvSpPr txBox="1"/>
          <p:nvPr/>
        </p:nvSpPr>
        <p:spPr>
          <a:xfrm>
            <a:off x="222199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39"/>
          <p:cNvSpPr txBox="1"/>
          <p:nvPr/>
        </p:nvSpPr>
        <p:spPr>
          <a:xfrm>
            <a:off x="1856232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Order</a:t>
            </a:r>
            <a:endParaRPr lang="en-US" sz="1300" dirty="0"/>
          </a:p>
        </p:txBody>
      </p:sp>
      <p:sp>
        <p:nvSpPr>
          <p:cNvPr id="12" name="text-40"/>
          <p:cNvSpPr txBox="1"/>
          <p:nvPr/>
        </p:nvSpPr>
        <p:spPr>
          <a:xfrm>
            <a:off x="1856232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price, terms, scheme</a:t>
            </a:r>
            <a:endParaRPr lang="en-US" sz="1000" dirty="0"/>
          </a:p>
        </p:txBody>
      </p:sp>
      <p:sp>
        <p:nvSpPr>
          <p:cNvPr id="13" name="card-41"/>
          <p:cNvSpPr/>
          <p:nvPr/>
        </p:nvSpPr>
        <p:spPr>
          <a:xfrm>
            <a:off x="3209544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4" name="dot-42"/>
          <p:cNvSpPr/>
          <p:nvPr/>
        </p:nvSpPr>
        <p:spPr>
          <a:xfrm>
            <a:off x="3621024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-43"/>
          <p:cNvSpPr txBox="1"/>
          <p:nvPr/>
        </p:nvSpPr>
        <p:spPr>
          <a:xfrm>
            <a:off x="36210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44"/>
          <p:cNvSpPr txBox="1"/>
          <p:nvPr/>
        </p:nvSpPr>
        <p:spPr>
          <a:xfrm>
            <a:off x="3255264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Movement</a:t>
            </a:r>
            <a:endParaRPr lang="en-US" sz="1300" dirty="0"/>
          </a:p>
        </p:txBody>
      </p:sp>
      <p:sp>
        <p:nvSpPr>
          <p:cNvPr id="17" name="text-45"/>
          <p:cNvSpPr txBox="1"/>
          <p:nvPr/>
        </p:nvSpPr>
        <p:spPr>
          <a:xfrm>
            <a:off x="3255264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dispatch, LR, POD, e-way bill</a:t>
            </a:r>
            <a:endParaRPr lang="en-US" sz="1000" dirty="0"/>
          </a:p>
        </p:txBody>
      </p:sp>
      <p:sp>
        <p:nvSpPr>
          <p:cNvPr id="18" name="card-46"/>
          <p:cNvSpPr/>
          <p:nvPr/>
        </p:nvSpPr>
        <p:spPr>
          <a:xfrm>
            <a:off x="4608576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9" name="dot-47"/>
          <p:cNvSpPr/>
          <p:nvPr/>
        </p:nvSpPr>
        <p:spPr>
          <a:xfrm>
            <a:off x="5020056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48"/>
          <p:cNvSpPr txBox="1"/>
          <p:nvPr/>
        </p:nvSpPr>
        <p:spPr>
          <a:xfrm>
            <a:off x="50200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49"/>
          <p:cNvSpPr txBox="1"/>
          <p:nvPr/>
        </p:nvSpPr>
        <p:spPr>
          <a:xfrm>
            <a:off x="4654296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Revenue &amp; tax</a:t>
            </a:r>
            <a:endParaRPr lang="en-US" sz="1300" dirty="0"/>
          </a:p>
        </p:txBody>
      </p:sp>
      <p:sp>
        <p:nvSpPr>
          <p:cNvPr id="22" name="text-50"/>
          <p:cNvSpPr txBox="1"/>
          <p:nvPr/>
        </p:nvSpPr>
        <p:spPr>
          <a:xfrm>
            <a:off x="4654296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invoice, IRN, GSTR-1, ledger</a:t>
            </a:r>
            <a:endParaRPr lang="en-US" sz="1000" dirty="0"/>
          </a:p>
        </p:txBody>
      </p:sp>
      <p:sp>
        <p:nvSpPr>
          <p:cNvPr id="23" name="card-51"/>
          <p:cNvSpPr/>
          <p:nvPr/>
        </p:nvSpPr>
        <p:spPr>
          <a:xfrm>
            <a:off x="6007608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24" name="dot-52"/>
          <p:cNvSpPr/>
          <p:nvPr/>
        </p:nvSpPr>
        <p:spPr>
          <a:xfrm>
            <a:off x="641908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53"/>
          <p:cNvSpPr txBox="1"/>
          <p:nvPr/>
        </p:nvSpPr>
        <p:spPr>
          <a:xfrm>
            <a:off x="641908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-54"/>
          <p:cNvSpPr txBox="1"/>
          <p:nvPr/>
        </p:nvSpPr>
        <p:spPr>
          <a:xfrm>
            <a:off x="6053328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Cash</a:t>
            </a:r>
            <a:endParaRPr lang="en-US" sz="1300" dirty="0"/>
          </a:p>
        </p:txBody>
      </p:sp>
      <p:sp>
        <p:nvSpPr>
          <p:cNvPr id="27" name="text-55"/>
          <p:cNvSpPr txBox="1"/>
          <p:nvPr/>
        </p:nvSpPr>
        <p:spPr>
          <a:xfrm>
            <a:off x="6053328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bank receipt, payer a/c</a:t>
            </a:r>
            <a:endParaRPr lang="en-US" sz="1000" dirty="0"/>
          </a:p>
        </p:txBody>
      </p:sp>
      <p:sp>
        <p:nvSpPr>
          <p:cNvPr id="28" name="card-56"/>
          <p:cNvSpPr/>
          <p:nvPr/>
        </p:nvSpPr>
        <p:spPr>
          <a:xfrm>
            <a:off x="7406640" y="1325880"/>
            <a:ext cx="1280160" cy="1554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29" name="dot-57"/>
          <p:cNvSpPr/>
          <p:nvPr/>
        </p:nvSpPr>
        <p:spPr>
          <a:xfrm>
            <a:off x="78181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58"/>
          <p:cNvSpPr txBox="1"/>
          <p:nvPr/>
        </p:nvSpPr>
        <p:spPr>
          <a:xfrm>
            <a:off x="7818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-59"/>
          <p:cNvSpPr txBox="1"/>
          <p:nvPr/>
        </p:nvSpPr>
        <p:spPr>
          <a:xfrm>
            <a:off x="745236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Reversals</a:t>
            </a:r>
            <a:endParaRPr lang="en-US" sz="1300" dirty="0"/>
          </a:p>
        </p:txBody>
      </p:sp>
      <p:sp>
        <p:nvSpPr>
          <p:cNvPr id="32" name="text-60"/>
          <p:cNvSpPr txBox="1"/>
          <p:nvPr/>
        </p:nvSpPr>
        <p:spPr>
          <a:xfrm>
            <a:off x="745236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credit notes, returns</a:t>
            </a:r>
            <a:endParaRPr lang="en-US" sz="1000" dirty="0"/>
          </a:p>
        </p:txBody>
      </p:sp>
      <p:sp>
        <p:nvSpPr>
          <p:cNvPr id="33" name="list-61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write posts a balanced journal and appends to a hash-chained edit log (nothing is updated or deleted)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Government copies (IRN, e-way bill, GSTR-1/3B, bank) sit in a separate store the client can't edit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client's exported register is compared against all of it: every difference is a finding, not a cleaning step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MCP front door, four databases</a:t>
            </a:r>
            <a:endParaRPr lang="en-US" sz="3000" dirty="0"/>
          </a:p>
        </p:txBody>
      </p:sp>
      <p:sp>
        <p:nvSpPr>
          <p:cNvPr id="3" name="card-62"/>
          <p:cNvSpPr/>
          <p:nvPr/>
        </p:nvSpPr>
        <p:spPr>
          <a:xfrm>
            <a:off x="365760" y="109728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text-63"/>
          <p:cNvSpPr txBox="1"/>
          <p:nvPr/>
        </p:nvSpPr>
        <p:spPr>
          <a:xfrm>
            <a:off x="36576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Judges' AI agent</a:t>
            </a:r>
            <a:endParaRPr lang="en-US" sz="1200" dirty="0"/>
          </a:p>
        </p:txBody>
      </p:sp>
      <p:sp>
        <p:nvSpPr>
          <p:cNvPr id="5" name="card-64"/>
          <p:cNvSpPr/>
          <p:nvPr/>
        </p:nvSpPr>
        <p:spPr>
          <a:xfrm>
            <a:off x="365760" y="169164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6" name="text-65"/>
          <p:cNvSpPr txBox="1"/>
          <p:nvPr/>
        </p:nvSpPr>
        <p:spPr>
          <a:xfrm>
            <a:off x="3657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Our GPT investigator</a:t>
            </a:r>
            <a:endParaRPr lang="en-US" sz="1200" dirty="0"/>
          </a:p>
        </p:txBody>
      </p:sp>
      <p:sp>
        <p:nvSpPr>
          <p:cNvPr id="7" name="card-66"/>
          <p:cNvSpPr/>
          <p:nvPr/>
        </p:nvSpPr>
        <p:spPr>
          <a:xfrm>
            <a:off x="365760" y="228600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8" name="text-67"/>
          <p:cNvSpPr txBox="1"/>
          <p:nvPr/>
        </p:nvSpPr>
        <p:spPr>
          <a:xfrm>
            <a:off x="36576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n8n · Shopify app</a:t>
            </a:r>
            <a:endParaRPr lang="en-US" sz="1200" dirty="0"/>
          </a:p>
        </p:txBody>
      </p:sp>
      <p:sp>
        <p:nvSpPr>
          <p:cNvPr id="9" name="card-68"/>
          <p:cNvSpPr/>
          <p:nvPr/>
        </p:nvSpPr>
        <p:spPr>
          <a:xfrm>
            <a:off x="365760" y="288036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0" name="text-69"/>
          <p:cNvSpPr txBox="1"/>
          <p:nvPr/>
        </p:nvSpPr>
        <p:spPr>
          <a:xfrm>
            <a:off x="36576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Web app (Streamlit)</a:t>
            </a:r>
            <a:endParaRPr lang="en-US" sz="1200" dirty="0"/>
          </a:p>
        </p:txBody>
      </p:sp>
      <p:sp>
        <p:nvSpPr>
          <p:cNvPr id="11" name="card-70"/>
          <p:cNvSpPr/>
          <p:nvPr/>
        </p:nvSpPr>
        <p:spPr>
          <a:xfrm>
            <a:off x="2743200" y="10972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2" name="text-71"/>
          <p:cNvSpPr txBox="1"/>
          <p:nvPr/>
        </p:nvSpPr>
        <p:spPr>
          <a:xfrm>
            <a:off x="2743200" y="1097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MCP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token → role → only that role's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every call hash-chained in the trail</a:t>
            </a:r>
            <a:endParaRPr lang="en-US" sz="1200" dirty="0"/>
          </a:p>
        </p:txBody>
      </p:sp>
      <p:sp>
        <p:nvSpPr>
          <p:cNvPr id="13" name="card-72"/>
          <p:cNvSpPr/>
          <p:nvPr/>
        </p:nvSpPr>
        <p:spPr>
          <a:xfrm>
            <a:off x="2743200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4" name="text-73"/>
          <p:cNvSpPr txBox="1"/>
          <p:nvPr/>
        </p:nvSpPr>
        <p:spPr>
          <a:xfrm>
            <a:off x="2743200" y="24688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Client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run the business</a:t>
            </a:r>
            <a:endParaRPr lang="en-US" sz="1200" dirty="0"/>
          </a:p>
        </p:txBody>
      </p:sp>
      <p:sp>
        <p:nvSpPr>
          <p:cNvPr id="15" name="card-74"/>
          <p:cNvSpPr/>
          <p:nvPr/>
        </p:nvSpPr>
        <p:spPr>
          <a:xfrm>
            <a:off x="4160520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6" name="text-75"/>
          <p:cNvSpPr txBox="1"/>
          <p:nvPr/>
        </p:nvSpPr>
        <p:spPr>
          <a:xfrm>
            <a:off x="4160520" y="24688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Audit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read-only on the books</a:t>
            </a:r>
            <a:endParaRPr lang="en-US" sz="1200" dirty="0"/>
          </a:p>
        </p:txBody>
      </p:sp>
      <p:sp>
        <p:nvSpPr>
          <p:cNvPr id="17" name="card-76"/>
          <p:cNvSpPr/>
          <p:nvPr/>
        </p:nvSpPr>
        <p:spPr>
          <a:xfrm>
            <a:off x="5852160" y="1097280"/>
            <a:ext cx="29260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8" name="text-77"/>
          <p:cNvSpPr txBox="1"/>
          <p:nvPr/>
        </p:nvSpPr>
        <p:spPr>
          <a:xfrm>
            <a:off x="5852160" y="1097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erp.db: books, ledger, edit log</a:t>
            </a:r>
            <a:endParaRPr lang="en-US" sz="1200" dirty="0"/>
          </a:p>
        </p:txBody>
      </p:sp>
      <p:sp>
        <p:nvSpPr>
          <p:cNvPr id="19" name="card-78"/>
          <p:cNvSpPr/>
          <p:nvPr/>
        </p:nvSpPr>
        <p:spPr>
          <a:xfrm>
            <a:off x="5852160" y="1691640"/>
            <a:ext cx="29260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20" name="text-79"/>
          <p:cNvSpPr txBox="1"/>
          <p:nvPr/>
        </p:nvSpPr>
        <p:spPr>
          <a:xfrm>
            <a:off x="585216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ext.db: IRN, e-way bill, GSTR, bank</a:t>
            </a:r>
            <a:endParaRPr lang="en-US" sz="1200" dirty="0"/>
          </a:p>
        </p:txBody>
      </p:sp>
      <p:sp>
        <p:nvSpPr>
          <p:cNvPr id="21" name="card-80"/>
          <p:cNvSpPr/>
          <p:nvPr/>
        </p:nvSpPr>
        <p:spPr>
          <a:xfrm>
            <a:off x="5852160" y="2286000"/>
            <a:ext cx="29260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22" name="text-81"/>
          <p:cNvSpPr txBox="1"/>
          <p:nvPr/>
        </p:nvSpPr>
        <p:spPr>
          <a:xfrm>
            <a:off x="5852160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pbc.db: evidence requests ⇄ uploads</a:t>
            </a:r>
            <a:endParaRPr lang="en-US" sz="1200" dirty="0"/>
          </a:p>
        </p:txBody>
      </p:sp>
      <p:sp>
        <p:nvSpPr>
          <p:cNvPr id="23" name="card-82"/>
          <p:cNvSpPr/>
          <p:nvPr/>
        </p:nvSpPr>
        <p:spPr>
          <a:xfrm>
            <a:off x="5852160" y="2880360"/>
            <a:ext cx="29260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24" name="text-83"/>
          <p:cNvSpPr txBox="1"/>
          <p:nvPr/>
        </p:nvSpPr>
        <p:spPr>
          <a:xfrm>
            <a:off x="5852160" y="2880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audit.db: workpaper, findings, trail</a:t>
            </a:r>
            <a:endParaRPr lang="en-US" sz="1200" dirty="0"/>
          </a:p>
        </p:txBody>
      </p:sp>
      <p:sp>
        <p:nvSpPr>
          <p:cNvPr id="25" name="arrow-84"/>
          <p:cNvSpPr/>
          <p:nvPr/>
        </p:nvSpPr>
        <p:spPr>
          <a:xfrm>
            <a:off x="2423160" y="1965960"/>
            <a:ext cx="27432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6" name="arrow-85"/>
          <p:cNvSpPr/>
          <p:nvPr/>
        </p:nvSpPr>
        <p:spPr>
          <a:xfrm>
            <a:off x="5532120" y="1965960"/>
            <a:ext cx="27432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7" name="text-86"/>
          <p:cNvSpPr txBox="1"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Python 3.11 · SQLite · official MCP SDK 2.3 · networkx · openpyxl · Streamlit · hosted on Voroa (2 vCPU / 4 GB, CPU only)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 is enforced, not promised</a:t>
            </a:r>
            <a:endParaRPr lang="en-US" sz="3000" dirty="0"/>
          </a:p>
        </p:txBody>
      </p:sp>
      <p:sp>
        <p:nvSpPr>
          <p:cNvPr id="3" name="dot-87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88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-89"/>
          <p:cNvSpPr txBox="1"/>
          <p:nvPr/>
        </p:nvSpPr>
        <p:spPr>
          <a:xfrm>
            <a:off x="1005840" y="1069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Identity comes only from a token: no tool accepts a role argument</a:t>
            </a:r>
            <a:endParaRPr lang="en-US" sz="1300" dirty="0"/>
          </a:p>
        </p:txBody>
      </p:sp>
      <p:sp>
        <p:nvSpPr>
          <p:cNvPr id="6" name="dot-90"/>
          <p:cNvSpPr/>
          <p:nvPr/>
        </p:nvSpPr>
        <p:spPr>
          <a:xfrm>
            <a:off x="457200" y="170078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91"/>
          <p:cNvSpPr txBox="1"/>
          <p:nvPr/>
        </p:nvSpPr>
        <p:spPr>
          <a:xfrm>
            <a:off x="457200" y="1700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-92"/>
          <p:cNvSpPr txBox="1"/>
          <p:nvPr/>
        </p:nvSpPr>
        <p:spPr>
          <a:xfrm>
            <a:off x="1005840" y="16733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auditor never even sees client tools (role-filtered tool list)</a:t>
            </a:r>
            <a:endParaRPr lang="en-US" sz="1300" dirty="0"/>
          </a:p>
        </p:txBody>
      </p:sp>
      <p:sp>
        <p:nvSpPr>
          <p:cNvPr id="9" name="dot-93"/>
          <p:cNvSpPr/>
          <p:nvPr/>
        </p:nvSpPr>
        <p:spPr>
          <a:xfrm>
            <a:off x="457200" y="230428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94"/>
          <p:cNvSpPr txBox="1"/>
          <p:nvPr/>
        </p:nvSpPr>
        <p:spPr>
          <a:xfrm>
            <a:off x="45720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-95"/>
          <p:cNvSpPr txBox="1"/>
          <p:nvPr/>
        </p:nvSpPr>
        <p:spPr>
          <a:xfrm>
            <a:off x="1005840" y="22768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Auditor connections to the books are read-only inside SQLite: a bug can't write</a:t>
            </a:r>
            <a:endParaRPr lang="en-US" sz="1300" dirty="0"/>
          </a:p>
        </p:txBody>
      </p:sp>
      <p:sp>
        <p:nvSpPr>
          <p:cNvPr id="12" name="dot-96"/>
          <p:cNvSpPr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97"/>
          <p:cNvSpPr txBox="1"/>
          <p:nvPr/>
        </p:nvSpPr>
        <p:spPr>
          <a:xfrm>
            <a:off x="45720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-98"/>
          <p:cNvSpPr txBox="1"/>
          <p:nvPr/>
        </p:nvSpPr>
        <p:spPr>
          <a:xfrm>
            <a:off x="100584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Adjusting entries are proposals; only management posts them</a:t>
            </a:r>
            <a:endParaRPr lang="en-US" sz="1300" dirty="0"/>
          </a:p>
        </p:txBody>
      </p:sp>
      <p:sp>
        <p:nvSpPr>
          <p:cNvPr id="15" name="dot-99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00"/>
          <p:cNvSpPr txBox="1"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-101"/>
          <p:cNvSpPr txBox="1"/>
          <p:nvPr/>
        </p:nvSpPr>
        <p:spPr>
          <a:xfrm>
            <a:off x="1005840" y="34838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a human partner confirms findings and signs off, in the web app; the MCP server refuses the partner token</a:t>
            </a:r>
            <a:endParaRPr lang="en-US" sz="1300" dirty="0"/>
          </a:p>
        </p:txBody>
      </p:sp>
      <p:sp>
        <p:nvSpPr>
          <p:cNvPr id="18" name="card-102"/>
          <p:cNvSpPr/>
          <p:nvPr/>
        </p:nvSpPr>
        <p:spPr>
          <a:xfrm>
            <a:off x="5303520" y="109728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9" name="text-103"/>
          <p:cNvSpPr txBox="1"/>
          <p:nvPr/>
        </p:nvSpPr>
        <p:spPr>
          <a:xfrm>
            <a:off x="548640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Tamper evidence</a:t>
            </a:r>
            <a:endParaRPr lang="en-US" sz="1600" dirty="0"/>
          </a:p>
        </p:txBody>
      </p:sp>
      <p:sp>
        <p:nvSpPr>
          <p:cNvPr id="20" name="list-104"/>
          <p:cNvSpPr txBox="1"/>
          <p:nvPr/>
        </p:nvSpPr>
        <p:spPr>
          <a:xfrm>
            <a:off x="5486400" y="15544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Hash-chained edit log of every business write (before → after)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Hash-chained audit trail of every agent call, including refusals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Each trail row anchors the books' chain head, in a file the client can't open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 rewritten chain fails at the first anchor; a direct DB edit shows as 'changed outside the application'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Client edits after testing name the field, old → new, who, and every affected sample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testing: 15 detectors</a:t>
            </a:r>
            <a:endParaRPr lang="en-US" sz="3000" dirty="0"/>
          </a:p>
        </p:txBody>
      </p:sp>
      <p:sp>
        <p:nvSpPr>
          <p:cNvPr id="3" name="dot-105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106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D0</a:t>
            </a:r>
            <a:endParaRPr lang="en-US" sz="1100" dirty="0"/>
          </a:p>
        </p:txBody>
      </p:sp>
      <p:sp>
        <p:nvSpPr>
          <p:cNvPr id="5" name="text-107"/>
          <p:cNvSpPr txBox="1"/>
          <p:nvPr/>
        </p:nvSpPr>
        <p:spPr>
          <a:xfrm>
            <a:off x="1005840" y="1097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 ≠ system of record</a:t>
            </a:r>
            <a:endParaRPr lang="en-US" sz="1100" dirty="0"/>
          </a:p>
        </p:txBody>
      </p:sp>
      <p:sp>
        <p:nvSpPr>
          <p:cNvPr id="6" name="dot-108"/>
          <p:cNvSpPr/>
          <p:nvPr/>
        </p:nvSpPr>
        <p:spPr>
          <a:xfrm>
            <a:off x="457200" y="17556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109"/>
          <p:cNvSpPr txBox="1"/>
          <p:nvPr/>
        </p:nvSpPr>
        <p:spPr>
          <a:xfrm>
            <a:off x="4572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</a:t>
            </a:r>
            <a:endParaRPr lang="en-US" sz="1100" dirty="0"/>
          </a:p>
        </p:txBody>
      </p:sp>
      <p:sp>
        <p:nvSpPr>
          <p:cNvPr id="8" name="text-110"/>
          <p:cNvSpPr txBox="1"/>
          <p:nvPr/>
        </p:nvSpPr>
        <p:spPr>
          <a:xfrm>
            <a:off x="1005840" y="1755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Undisclosed related parties (PAN-in-GSTIN, bank, phone, director)</a:t>
            </a:r>
            <a:endParaRPr lang="en-US" sz="1100" dirty="0"/>
          </a:p>
        </p:txBody>
      </p:sp>
      <p:sp>
        <p:nvSpPr>
          <p:cNvPr id="9" name="dot-111"/>
          <p:cNvSpPr/>
          <p:nvPr/>
        </p:nvSpPr>
        <p:spPr>
          <a:xfrm>
            <a:off x="457200" y="24140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12"/>
          <p:cNvSpPr txBox="1"/>
          <p:nvPr/>
        </p:nvSpPr>
        <p:spPr>
          <a:xfrm>
            <a:off x="4572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D2</a:t>
            </a:r>
            <a:endParaRPr lang="en-US" sz="1100" dirty="0"/>
          </a:p>
        </p:txBody>
      </p:sp>
      <p:sp>
        <p:nvSpPr>
          <p:cNvPr id="11" name="text-113"/>
          <p:cNvSpPr txBox="1"/>
          <p:nvPr/>
        </p:nvSpPr>
        <p:spPr>
          <a:xfrm>
            <a:off x="1005840" y="24140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Related party starting mid-year</a:t>
            </a:r>
            <a:endParaRPr lang="en-US" sz="1100" dirty="0"/>
          </a:p>
        </p:txBody>
      </p:sp>
      <p:sp>
        <p:nvSpPr>
          <p:cNvPr id="12" name="dot-114"/>
          <p:cNvSpPr/>
          <p:nvPr/>
        </p:nvSpPr>
        <p:spPr>
          <a:xfrm>
            <a:off x="457200" y="3072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115"/>
          <p:cNvSpPr txBox="1"/>
          <p:nvPr/>
        </p:nvSpPr>
        <p:spPr>
          <a:xfrm>
            <a:off x="45720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D3</a:t>
            </a:r>
            <a:endParaRPr lang="en-US" sz="1100" dirty="0"/>
          </a:p>
        </p:txBody>
      </p:sp>
      <p:sp>
        <p:nvSpPr>
          <p:cNvPr id="14" name="text-116"/>
          <p:cNvSpPr txBox="1"/>
          <p:nvPr/>
        </p:nvSpPr>
        <p:spPr>
          <a:xfrm>
            <a:off x="1005840" y="30723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Cut-off by transfer of control</a:t>
            </a:r>
            <a:endParaRPr lang="en-US" sz="1100" dirty="0"/>
          </a:p>
        </p:txBody>
      </p:sp>
      <p:sp>
        <p:nvSpPr>
          <p:cNvPr id="15" name="dot-117"/>
          <p:cNvSpPr/>
          <p:nvPr/>
        </p:nvSpPr>
        <p:spPr>
          <a:xfrm>
            <a:off x="457200" y="3730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18"/>
          <p:cNvSpPr txBox="1"/>
          <p:nvPr/>
        </p:nvSpPr>
        <p:spPr>
          <a:xfrm>
            <a:off x="45720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D4</a:t>
            </a:r>
            <a:endParaRPr lang="en-US" sz="1100" dirty="0"/>
          </a:p>
        </p:txBody>
      </p:sp>
      <p:sp>
        <p:nvSpPr>
          <p:cNvPr id="17" name="text-119"/>
          <p:cNvSpPr txBox="1"/>
          <p:nvPr/>
        </p:nvSpPr>
        <p:spPr>
          <a:xfrm>
            <a:off x="1005840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Turnover with no movement</a:t>
            </a:r>
            <a:endParaRPr lang="en-US" sz="1100" dirty="0"/>
          </a:p>
        </p:txBody>
      </p:sp>
      <p:sp>
        <p:nvSpPr>
          <p:cNvPr id="18" name="dot-120"/>
          <p:cNvSpPr/>
          <p:nvPr/>
        </p:nvSpPr>
        <p:spPr>
          <a:xfrm>
            <a:off x="3264408" y="10972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-121"/>
          <p:cNvSpPr txBox="1"/>
          <p:nvPr/>
        </p:nvSpPr>
        <p:spPr>
          <a:xfrm>
            <a:off x="326440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D5</a:t>
            </a:r>
            <a:endParaRPr lang="en-US" sz="1100" dirty="0"/>
          </a:p>
        </p:txBody>
      </p:sp>
      <p:sp>
        <p:nvSpPr>
          <p:cNvPr id="20" name="text-122"/>
          <p:cNvSpPr txBox="1"/>
          <p:nvPr/>
        </p:nvSpPr>
        <p:spPr>
          <a:xfrm>
            <a:off x="3813048" y="1097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Period-end spikes in sales and discounts</a:t>
            </a:r>
            <a:endParaRPr lang="en-US" sz="1100" dirty="0"/>
          </a:p>
        </p:txBody>
      </p:sp>
      <p:sp>
        <p:nvSpPr>
          <p:cNvPr id="21" name="dot-123"/>
          <p:cNvSpPr/>
          <p:nvPr/>
        </p:nvSpPr>
        <p:spPr>
          <a:xfrm>
            <a:off x="3264408" y="175564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-124"/>
          <p:cNvSpPr txBox="1"/>
          <p:nvPr/>
        </p:nvSpPr>
        <p:spPr>
          <a:xfrm>
            <a:off x="32644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D6</a:t>
            </a:r>
            <a:endParaRPr lang="en-US" sz="1100" dirty="0"/>
          </a:p>
        </p:txBody>
      </p:sp>
      <p:sp>
        <p:nvSpPr>
          <p:cNvPr id="23" name="text-125"/>
          <p:cNvSpPr txBox="1"/>
          <p:nvPr/>
        </p:nvSpPr>
        <p:spPr>
          <a:xfrm>
            <a:off x="3813048" y="1755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Invoice ↔ IRN ↔ e-way bill ↔ GSTR-1 ↔ books</a:t>
            </a:r>
            <a:endParaRPr lang="en-US" sz="1100" dirty="0"/>
          </a:p>
        </p:txBody>
      </p:sp>
      <p:sp>
        <p:nvSpPr>
          <p:cNvPr id="24" name="dot-126"/>
          <p:cNvSpPr/>
          <p:nvPr/>
        </p:nvSpPr>
        <p:spPr>
          <a:xfrm>
            <a:off x="3264408" y="24140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-127"/>
          <p:cNvSpPr txBox="1"/>
          <p:nvPr/>
        </p:nvSpPr>
        <p:spPr>
          <a:xfrm>
            <a:off x="326440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D7</a:t>
            </a:r>
            <a:endParaRPr lang="en-US" sz="1100" dirty="0"/>
          </a:p>
        </p:txBody>
      </p:sp>
      <p:sp>
        <p:nvSpPr>
          <p:cNvPr id="26" name="text-128"/>
          <p:cNvSpPr txBox="1"/>
          <p:nvPr/>
        </p:nvSpPr>
        <p:spPr>
          <a:xfrm>
            <a:off x="3813048" y="24140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Revenue entries not from a sale</a:t>
            </a:r>
            <a:endParaRPr lang="en-US" sz="1100" dirty="0"/>
          </a:p>
        </p:txBody>
      </p:sp>
      <p:sp>
        <p:nvSpPr>
          <p:cNvPr id="27" name="dot-129"/>
          <p:cNvSpPr/>
          <p:nvPr/>
        </p:nvSpPr>
        <p:spPr>
          <a:xfrm>
            <a:off x="3264408" y="307238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-130"/>
          <p:cNvSpPr txBox="1"/>
          <p:nvPr/>
        </p:nvSpPr>
        <p:spPr>
          <a:xfrm>
            <a:off x="32644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D8</a:t>
            </a:r>
            <a:endParaRPr lang="en-US" sz="1100" dirty="0"/>
          </a:p>
        </p:txBody>
      </p:sp>
      <p:sp>
        <p:nvSpPr>
          <p:cNvPr id="29" name="text-131"/>
          <p:cNvSpPr txBox="1"/>
          <p:nvPr/>
        </p:nvSpPr>
        <p:spPr>
          <a:xfrm>
            <a:off x="3813048" y="30723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Forged / other-transaction evidence</a:t>
            </a:r>
            <a:endParaRPr lang="en-US" sz="1100" dirty="0"/>
          </a:p>
        </p:txBody>
      </p:sp>
      <p:sp>
        <p:nvSpPr>
          <p:cNvPr id="30" name="dot-132"/>
          <p:cNvSpPr/>
          <p:nvPr/>
        </p:nvSpPr>
        <p:spPr>
          <a:xfrm>
            <a:off x="3264408" y="37307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-133"/>
          <p:cNvSpPr txBox="1"/>
          <p:nvPr/>
        </p:nvSpPr>
        <p:spPr>
          <a:xfrm>
            <a:off x="326440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D9</a:t>
            </a:r>
            <a:endParaRPr lang="en-US" sz="1100" dirty="0"/>
          </a:p>
        </p:txBody>
      </p:sp>
      <p:sp>
        <p:nvSpPr>
          <p:cNvPr id="32" name="text-134"/>
          <p:cNvSpPr txBox="1"/>
          <p:nvPr/>
        </p:nvSpPr>
        <p:spPr>
          <a:xfrm>
            <a:off x="3813048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Credit notes after year end</a:t>
            </a:r>
            <a:endParaRPr lang="en-US" sz="1100" dirty="0"/>
          </a:p>
        </p:txBody>
      </p:sp>
      <p:sp>
        <p:nvSpPr>
          <p:cNvPr id="33" name="dot-135"/>
          <p:cNvSpPr/>
          <p:nvPr/>
        </p:nvSpPr>
        <p:spPr>
          <a:xfrm>
            <a:off x="6071616" y="10972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-136"/>
          <p:cNvSpPr txBox="1"/>
          <p:nvPr/>
        </p:nvSpPr>
        <p:spPr>
          <a:xfrm>
            <a:off x="607161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D10</a:t>
            </a:r>
            <a:endParaRPr lang="en-US" sz="1100" dirty="0"/>
          </a:p>
        </p:txBody>
      </p:sp>
      <p:sp>
        <p:nvSpPr>
          <p:cNvPr id="35" name="text-137"/>
          <p:cNvSpPr txBox="1"/>
          <p:nvPr/>
        </p:nvSpPr>
        <p:spPr>
          <a:xfrm>
            <a:off x="6620256" y="1097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Circular trading</a:t>
            </a:r>
            <a:endParaRPr lang="en-US" sz="1100" dirty="0"/>
          </a:p>
        </p:txBody>
      </p:sp>
      <p:sp>
        <p:nvSpPr>
          <p:cNvPr id="36" name="dot-138"/>
          <p:cNvSpPr/>
          <p:nvPr/>
        </p:nvSpPr>
        <p:spPr>
          <a:xfrm>
            <a:off x="6071616" y="175564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-139"/>
          <p:cNvSpPr txBox="1"/>
          <p:nvPr/>
        </p:nvSpPr>
        <p:spPr>
          <a:xfrm>
            <a:off x="607161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D11</a:t>
            </a:r>
            <a:endParaRPr lang="en-US" sz="1100" dirty="0"/>
          </a:p>
        </p:txBody>
      </p:sp>
      <p:sp>
        <p:nvSpPr>
          <p:cNvPr id="38" name="text-140"/>
          <p:cNvSpPr txBox="1"/>
          <p:nvPr/>
        </p:nvSpPr>
        <p:spPr>
          <a:xfrm>
            <a:off x="6620256" y="1755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Changes after testing began</a:t>
            </a:r>
            <a:endParaRPr lang="en-US" sz="1100" dirty="0"/>
          </a:p>
        </p:txBody>
      </p:sp>
      <p:sp>
        <p:nvSpPr>
          <p:cNvPr id="39" name="dot-141"/>
          <p:cNvSpPr/>
          <p:nvPr/>
        </p:nvSpPr>
        <p:spPr>
          <a:xfrm>
            <a:off x="6071616" y="241401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text-142"/>
          <p:cNvSpPr txBox="1"/>
          <p:nvPr/>
        </p:nvSpPr>
        <p:spPr>
          <a:xfrm>
            <a:off x="6071616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D12</a:t>
            </a:r>
            <a:endParaRPr lang="en-US" sz="1100" dirty="0"/>
          </a:p>
        </p:txBody>
      </p:sp>
      <p:sp>
        <p:nvSpPr>
          <p:cNvPr id="41" name="text-143"/>
          <p:cNvSpPr txBox="1"/>
          <p:nvPr/>
        </p:nvSpPr>
        <p:spPr>
          <a:xfrm>
            <a:off x="6620256" y="24140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Ledger and trail integrity</a:t>
            </a:r>
            <a:endParaRPr lang="en-US" sz="1100" dirty="0"/>
          </a:p>
        </p:txBody>
      </p:sp>
      <p:sp>
        <p:nvSpPr>
          <p:cNvPr id="42" name="dot-144"/>
          <p:cNvSpPr/>
          <p:nvPr/>
        </p:nvSpPr>
        <p:spPr>
          <a:xfrm>
            <a:off x="6071616" y="307238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text-145"/>
          <p:cNvSpPr txBox="1"/>
          <p:nvPr/>
        </p:nvSpPr>
        <p:spPr>
          <a:xfrm>
            <a:off x="607161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D13</a:t>
            </a:r>
            <a:endParaRPr lang="en-US" sz="1100" dirty="0"/>
          </a:p>
        </p:txBody>
      </p:sp>
      <p:sp>
        <p:nvSpPr>
          <p:cNvPr id="44" name="text-146"/>
          <p:cNvSpPr txBox="1"/>
          <p:nvPr/>
        </p:nvSpPr>
        <p:spPr>
          <a:xfrm>
            <a:off x="6620256" y="30723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Backdating, sequence breaks</a:t>
            </a:r>
            <a:endParaRPr lang="en-US" sz="1100" dirty="0"/>
          </a:p>
        </p:txBody>
      </p:sp>
      <p:sp>
        <p:nvSpPr>
          <p:cNvPr id="45" name="dot-147"/>
          <p:cNvSpPr/>
          <p:nvPr/>
        </p:nvSpPr>
        <p:spPr>
          <a:xfrm>
            <a:off x="6071616" y="37307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text-148"/>
          <p:cNvSpPr txBox="1"/>
          <p:nvPr/>
        </p:nvSpPr>
        <p:spPr>
          <a:xfrm>
            <a:off x="6071616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D14</a:t>
            </a:r>
            <a:endParaRPr lang="en-US" sz="1100" dirty="0"/>
          </a:p>
        </p:txBody>
      </p:sp>
      <p:sp>
        <p:nvSpPr>
          <p:cNvPr id="47" name="text-149"/>
          <p:cNvSpPr txBox="1"/>
          <p:nvPr/>
        </p:nvSpPr>
        <p:spPr>
          <a:xfrm>
            <a:off x="6620256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Instructions hidden in evidence</a:t>
            </a:r>
            <a:endParaRPr lang="en-US" sz="1100" dirty="0"/>
          </a:p>
        </p:txBody>
      </p:sp>
      <p:sp>
        <p:nvSpPr>
          <p:cNvPr id="48" name="text-15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Deterministic rules decide every finding (explainable, reproducible). LLMs only investigate and explain.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AuditGraph: risk that follows the money</a:t>
            </a:r>
            <a:endParaRPr lang="en-US" sz="3000" dirty="0"/>
          </a:p>
        </p:txBody>
      </p:sp>
      <p:sp>
        <p:nvSpPr>
          <p:cNvPr id="3" name="card-151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text-15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Scores</a:t>
            </a:r>
            <a:endParaRPr lang="en-US" sz="1600" dirty="0"/>
          </a:p>
        </p:txBody>
      </p:sp>
      <p:sp>
        <p:nvSpPr>
          <p:cNvPr id="5" name="list-153"/>
          <p:cNvSpPr txBox="1"/>
          <p:nvPr/>
        </p:nvSpPr>
        <p:spPr>
          <a:xfrm>
            <a:off x="640080" y="160020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A: the invoice's own anomaly score (its detector hits)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 = 0.35·C + 0.25·F + 0.15·T + 0.15·H + 0.10·N per company: circular exposure, flagged flows, timing, open exceptions, counterparties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 = 0.7·A + 0.3·E, never below High for hard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Updates on every business event; history is never overwritten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Company flag LOW / MODERATE / HIGH sets the sample size (25 / 30 / 35)</a:t>
            </a:r>
            <a:endParaRPr lang="en-US" sz="1200" dirty="0"/>
          </a:p>
        </p:txBody>
      </p:sp>
      <p:sp>
        <p:nvSpPr>
          <p:cNvPr id="6" name="card-154"/>
          <p:cNvSpPr/>
          <p:nvPr/>
        </p:nvSpPr>
        <p:spPr>
          <a:xfrm>
            <a:off x="4754880" y="109728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7" name="text-155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Circular flow (minimum-span decomposition)</a:t>
            </a:r>
            <a:endParaRPr lang="en-US" sz="1400" dirty="0"/>
          </a:p>
        </p:txBody>
      </p:sp>
      <p:sp>
        <p:nvSpPr>
          <p:cNvPr id="8" name="dot-156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-157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dot-158"/>
          <p:cNvSpPr/>
          <p:nvPr/>
        </p:nvSpPr>
        <p:spPr>
          <a:xfrm>
            <a:off x="5212080" y="2880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-159"/>
          <p:cNvSpPr txBox="1"/>
          <p:nvPr/>
        </p:nvSpPr>
        <p:spPr>
          <a:xfrm>
            <a:off x="5212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dot-160"/>
          <p:cNvSpPr/>
          <p:nvPr/>
        </p:nvSpPr>
        <p:spPr>
          <a:xfrm>
            <a:off x="7406640" y="2880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161"/>
          <p:cNvSpPr txBox="1"/>
          <p:nvPr/>
        </p:nvSpPr>
        <p:spPr>
          <a:xfrm>
            <a:off x="7406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edge-162"/>
          <p:cNvSpPr/>
          <p:nvPr/>
        </p:nvSpPr>
        <p:spPr>
          <a:xfrm flipH="1">
            <a:off x="5486400" y="2194560"/>
            <a:ext cx="822960" cy="6858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5" name="edge-163"/>
          <p:cNvSpPr/>
          <p:nvPr/>
        </p:nvSpPr>
        <p:spPr>
          <a:xfrm>
            <a:off x="5806440" y="3154680"/>
            <a:ext cx="155448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6" name="edge-164"/>
          <p:cNvSpPr/>
          <p:nvPr/>
        </p:nvSpPr>
        <p:spPr>
          <a:xfrm>
            <a:off x="6858000" y="2194560"/>
            <a:ext cx="685800" cy="6858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</a:ln>
        </p:spPr>
      </p:sp>
      <p:sp>
        <p:nvSpPr>
          <p:cNvPr id="17" name="text-165"/>
          <p:cNvSpPr txBox="1"/>
          <p:nvPr/>
        </p:nvSpPr>
        <p:spPr>
          <a:xfrm>
            <a:off x="525780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₹10 L</a:t>
            </a:r>
            <a:endParaRPr lang="en-US" sz="1100" dirty="0"/>
          </a:p>
        </p:txBody>
      </p:sp>
      <p:sp>
        <p:nvSpPr>
          <p:cNvPr id="18" name="text-166"/>
          <p:cNvSpPr txBox="1"/>
          <p:nvPr/>
        </p:nvSpPr>
        <p:spPr>
          <a:xfrm>
            <a:off x="6263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₹9 L</a:t>
            </a:r>
            <a:endParaRPr lang="en-US" sz="1100" dirty="0"/>
          </a:p>
        </p:txBody>
      </p:sp>
      <p:sp>
        <p:nvSpPr>
          <p:cNvPr id="19" name="text-167"/>
          <p:cNvSpPr txBox="1"/>
          <p:nvPr/>
        </p:nvSpPr>
        <p:spPr>
          <a:xfrm>
            <a:off x="726948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₹8 L</a:t>
            </a:r>
            <a:endParaRPr lang="en-US" sz="1100" dirty="0"/>
          </a:p>
        </p:txBody>
      </p:sp>
      <p:sp>
        <p:nvSpPr>
          <p:cNvPr id="20" name="text-168"/>
          <p:cNvSpPr txBox="1"/>
          <p:nvPr/>
        </p:nvSpPr>
        <p:spPr>
          <a:xfrm>
            <a:off x="493776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Circular value = ₹8 L; residuals 2 / 1 / 0. Reciprocal trade with matching goods (job work) is not flagged.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our synthetic company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69"/>
          <p:cNvSpPr/>
          <p:nvPr/>
        </p:nvSpPr>
        <p:spPr>
          <a:xfrm>
            <a:off x="5760720" y="10515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5" name="text-170"/>
          <p:cNvSpPr txBox="1"/>
          <p:nvPr/>
        </p:nvSpPr>
        <p:spPr>
          <a:xfrm>
            <a:off x="589788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6" name="text-171"/>
          <p:cNvSpPr txBox="1"/>
          <p:nvPr/>
        </p:nvSpPr>
        <p:spPr>
          <a:xfrm>
            <a:off x="589788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planted irregularities caught</a:t>
            </a:r>
            <a:endParaRPr lang="en-US" sz="1100" dirty="0"/>
          </a:p>
        </p:txBody>
      </p:sp>
      <p:sp>
        <p:nvSpPr>
          <p:cNvPr id="7" name="card-172"/>
          <p:cNvSpPr/>
          <p:nvPr/>
        </p:nvSpPr>
        <p:spPr>
          <a:xfrm>
            <a:off x="5760720" y="224028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8" name="text-173"/>
          <p:cNvSpPr txBox="1"/>
          <p:nvPr/>
        </p:nvSpPr>
        <p:spPr>
          <a:xfrm>
            <a:off x="58978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-174"/>
          <p:cNvSpPr txBox="1"/>
          <p:nvPr/>
        </p:nvSpPr>
        <p:spPr>
          <a:xfrm>
            <a:off x="5897880" y="2761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precision of severity-4+ hits</a:t>
            </a:r>
            <a:endParaRPr lang="en-US" sz="1100" dirty="0"/>
          </a:p>
        </p:txBody>
      </p:sp>
      <p:sp>
        <p:nvSpPr>
          <p:cNvPr id="10" name="card-175"/>
          <p:cNvSpPr/>
          <p:nvPr/>
        </p:nvSpPr>
        <p:spPr>
          <a:xfrm>
            <a:off x="5760720" y="342900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1" name="text-176"/>
          <p:cNvSpPr txBox="1"/>
          <p:nvPr/>
        </p:nvSpPr>
        <p:spPr>
          <a:xfrm>
            <a:off x="5897880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</a:t>
            </a:r>
            <a:endParaRPr lang="en-US" sz="2600" dirty="0"/>
          </a:p>
        </p:txBody>
      </p:sp>
      <p:sp>
        <p:nvSpPr>
          <p:cNvPr id="12" name="text-177"/>
          <p:cNvSpPr txBox="1"/>
          <p:nvPr/>
        </p:nvSpPr>
        <p:spPr>
          <a:xfrm>
            <a:off x="5897880" y="3950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from a client's live edit to the updated risk score (whole audit &lt; 1 min)</a:t>
            </a:r>
            <a:endParaRPr lang="en-US" sz="1100" dirty="0"/>
          </a:p>
        </p:txBody>
      </p:sp>
      <p:sp>
        <p:nvSpPr>
          <p:cNvPr id="13" name="text-178"/>
          <p:cNvSpPr txBox="1"/>
          <p:nvPr/>
        </p:nvSpPr>
        <p:spPr>
          <a:xfrm>
            <a:off x="365760" y="4617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Prototype performance on a dataset we designed (7,000 invoices, planted irregularities kept in a held-out answer key the engine never reads). Not a claim of real-world accuracy.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plant it, catch it, sign it</a:t>
            </a:r>
            <a:endParaRPr lang="en-US" sz="3000" dirty="0"/>
          </a:p>
        </p:txBody>
      </p:sp>
      <p:sp>
        <p:nvSpPr>
          <p:cNvPr id="3" name="dot-179"/>
          <p:cNvSpPr/>
          <p:nvPr/>
        </p:nvSpPr>
        <p:spPr>
          <a:xfrm>
            <a:off x="457200" y="10515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180"/>
          <p:cNvSpPr txBox="1"/>
          <p:nvPr/>
        </p:nvSpPr>
        <p:spPr>
          <a:xfrm>
            <a:off x="45720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181"/>
          <p:cNvSpPr txBox="1"/>
          <p:nvPr/>
        </p:nvSpPr>
        <p:spPr>
          <a:xfrm>
            <a:off x="1051560" y="10149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Judge card: the auditor token can't even see client tools</a:t>
            </a:r>
            <a:endParaRPr lang="en-US" sz="1300" dirty="0"/>
          </a:p>
        </p:txBody>
      </p:sp>
      <p:sp>
        <p:nvSpPr>
          <p:cNvPr id="6" name="dot-182"/>
          <p:cNvSpPr/>
          <p:nvPr/>
        </p:nvSpPr>
        <p:spPr>
          <a:xfrm>
            <a:off x="457200" y="16550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183"/>
          <p:cNvSpPr txBox="1"/>
          <p:nvPr/>
        </p:nvSpPr>
        <p:spPr>
          <a:xfrm>
            <a:off x="45720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-184"/>
          <p:cNvSpPr txBox="1"/>
          <p:nvPr/>
        </p:nvSpPr>
        <p:spPr>
          <a:xfrm>
            <a:off x="1051560" y="161848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Replay the year: risk scores move as events arrive</a:t>
            </a:r>
            <a:endParaRPr lang="en-US" sz="1300" dirty="0"/>
          </a:p>
        </p:txBody>
      </p:sp>
      <p:sp>
        <p:nvSpPr>
          <p:cNvPr id="9" name="dot-185"/>
          <p:cNvSpPr/>
          <p:nvPr/>
        </p:nvSpPr>
        <p:spPr>
          <a:xfrm>
            <a:off x="457200" y="225856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86"/>
          <p:cNvSpPr txBox="1"/>
          <p:nvPr/>
        </p:nvSpPr>
        <p:spPr>
          <a:xfrm>
            <a:off x="457200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-187"/>
          <p:cNvSpPr txBox="1"/>
          <p:nvPr/>
        </p:nvSpPr>
        <p:spPr>
          <a:xfrm>
            <a:off x="1051560" y="2221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 the client: plant a 31-Mar invoice shipped 2-Apr, a director's bank account on a customer, a manual sales journal; upload a doctored register</a:t>
            </a:r>
            <a:endParaRPr lang="en-US" sz="1300" dirty="0"/>
          </a:p>
        </p:txBody>
      </p:sp>
      <p:sp>
        <p:nvSpPr>
          <p:cNvPr id="12" name="dot-188"/>
          <p:cNvSpPr/>
          <p:nvPr/>
        </p:nvSpPr>
        <p:spPr>
          <a:xfrm>
            <a:off x="457200" y="286207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189"/>
          <p:cNvSpPr txBox="1"/>
          <p:nvPr/>
        </p:nvSpPr>
        <p:spPr>
          <a:xfrm>
            <a:off x="457200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-190"/>
          <p:cNvSpPr txBox="1"/>
          <p:nvPr/>
        </p:nvSpPr>
        <p:spPr>
          <a:xfrm>
            <a:off x="1051560" y="282549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 the auditor: reconcile → analytics → risk-based samples with seed and reasons → forged evidence caught</a:t>
            </a:r>
            <a:endParaRPr lang="en-US" sz="1300" dirty="0"/>
          </a:p>
        </p:txBody>
      </p:sp>
      <p:sp>
        <p:nvSpPr>
          <p:cNvPr id="15" name="dot-191"/>
          <p:cNvSpPr/>
          <p:nvPr/>
        </p:nvSpPr>
        <p:spPr>
          <a:xfrm>
            <a:off x="457200" y="346557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92"/>
          <p:cNvSpPr txBox="1"/>
          <p:nvPr/>
        </p:nvSpPr>
        <p:spPr>
          <a:xfrm>
            <a:off x="45720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-193"/>
          <p:cNvSpPr txBox="1"/>
          <p:nvPr/>
        </p:nvSpPr>
        <p:spPr>
          <a:xfrm>
            <a:off x="1051560" y="34290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Client edits an LR date → the stale sample is named; a direct DB edit → integrity alert</a:t>
            </a:r>
            <a:endParaRPr lang="en-US" sz="1300" dirty="0"/>
          </a:p>
        </p:txBody>
      </p:sp>
      <p:sp>
        <p:nvSpPr>
          <p:cNvPr id="18" name="dot-194"/>
          <p:cNvSpPr/>
          <p:nvPr/>
        </p:nvSpPr>
        <p:spPr>
          <a:xfrm>
            <a:off x="457200" y="4069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-195"/>
          <p:cNvSpPr txBox="1"/>
          <p:nvPr/>
        </p:nvSpPr>
        <p:spPr>
          <a:xfrm>
            <a:off x="45720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-196"/>
          <p:cNvSpPr txBox="1"/>
          <p:nvPr/>
        </p:nvSpPr>
        <p:spPr>
          <a:xfrm>
            <a:off x="1051560" y="403250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Partner confirms findings and signs off; workpaper + memo + trail verified offline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a partner would sign</a:t>
            </a:r>
            <a:endParaRPr lang="en-US" sz="3000" dirty="0"/>
          </a:p>
        </p:txBody>
      </p:sp>
      <p:sp>
        <p:nvSpPr>
          <p:cNvPr id="3" name="card-197"/>
          <p:cNvSpPr/>
          <p:nvPr/>
        </p:nvSpPr>
        <p:spPr>
          <a:xfrm>
            <a:off x="45720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dot-198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199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-200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Workpaper (.xlsx)</a:t>
            </a:r>
            <a:endParaRPr lang="en-US" sz="1500" dirty="0"/>
          </a:p>
        </p:txBody>
      </p:sp>
      <p:sp>
        <p:nvSpPr>
          <p:cNvPr id="7" name="list-201"/>
          <p:cNvSpPr txBox="1"/>
          <p:nvPr/>
        </p:nvSpPr>
        <p:spPr>
          <a:xfrm>
            <a:off x="59436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Sales Register pasted exactly as received + auditor columns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Sales TOD, Sales Cut-off TOD, Credit Note TOD in the PS figure layout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Objective, work done, tick marks, prepared / reviewed</a:t>
            </a:r>
            <a:endParaRPr lang="en-US" sz="1200" dirty="0"/>
          </a:p>
        </p:txBody>
      </p:sp>
      <p:sp>
        <p:nvSpPr>
          <p:cNvPr id="8" name="card-202"/>
          <p:cNvSpPr/>
          <p:nvPr/>
        </p:nvSpPr>
        <p:spPr>
          <a:xfrm>
            <a:off x="324612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9" name="dot-203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204"/>
          <p:cNvSpPr txBox="1"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-205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Findings memo</a:t>
            </a:r>
            <a:endParaRPr lang="en-US" sz="1500" dirty="0"/>
          </a:p>
        </p:txBody>
      </p:sp>
      <p:sp>
        <p:nvSpPr>
          <p:cNvPr id="12" name="list-206"/>
          <p:cNvSpPr txBox="1"/>
          <p:nvPr/>
        </p:nvSpPr>
        <p:spPr>
          <a:xfrm>
            <a:off x="338328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finding in plain language with the SA / Ind AS / GST basis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₹ impact and proposed adjusting entries (GST treated correctly)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 450 summary, s.143(12) consideration</a:t>
            </a:r>
            <a:endParaRPr lang="en-US" sz="1200" dirty="0"/>
          </a:p>
        </p:txBody>
      </p:sp>
      <p:sp>
        <p:nvSpPr>
          <p:cNvPr id="13" name="card-207"/>
          <p:cNvSpPr/>
          <p:nvPr/>
        </p:nvSpPr>
        <p:spPr>
          <a:xfrm>
            <a:off x="603504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4" name="dot-208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-209"/>
          <p:cNvSpPr txBox="1"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-210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17" name="list-211"/>
          <p:cNvSpPr txBox="1"/>
          <p:nvPr/>
        </p:nvSpPr>
        <p:spPr>
          <a:xfrm>
            <a:off x="617220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agent and human action, hash-chained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Anchored to the books' chain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Verifiable offline with one script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our sponsors, honest about limits</a:t>
            </a:r>
            <a:endParaRPr lang="en-US" sz="3000" dirty="0"/>
          </a:p>
        </p:txBody>
      </p:sp>
      <p:sp>
        <p:nvSpPr>
          <p:cNvPr id="3" name="card-212"/>
          <p:cNvSpPr/>
          <p:nvPr/>
        </p:nvSpPr>
        <p:spPr>
          <a:xfrm>
            <a:off x="457200" y="1051560"/>
            <a:ext cx="42062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4" name="text-213"/>
          <p:cNvSpPr txBox="1"/>
          <p:nvPr/>
        </p:nvSpPr>
        <p:spPr>
          <a:xfrm>
            <a:off x="594360" y="1051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Voroa</a:t>
            </a:r>
            <a:endParaRPr lang="en-US" sz="1400" dirty="0"/>
          </a:p>
        </p:txBody>
      </p:sp>
      <p:sp>
        <p:nvSpPr>
          <p:cNvPr id="5" name="text-214"/>
          <p:cNvSpPr txBox="1"/>
          <p:nvPr/>
        </p:nvSpPr>
        <p:spPr>
          <a:xfrm>
            <a:off x="1737360" y="1051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Hosts both services; runs on 2 vCPU / 4 GB, no GPU</a:t>
            </a:r>
            <a:endParaRPr lang="en-US" sz="1100" dirty="0"/>
          </a:p>
        </p:txBody>
      </p:sp>
      <p:sp>
        <p:nvSpPr>
          <p:cNvPr id="6" name="card-215"/>
          <p:cNvSpPr/>
          <p:nvPr/>
        </p:nvSpPr>
        <p:spPr>
          <a:xfrm>
            <a:off x="457200" y="1828800"/>
            <a:ext cx="42062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7" name="text-216"/>
          <p:cNvSpPr txBox="1"/>
          <p:nvPr/>
        </p:nvSpPr>
        <p:spPr>
          <a:xfrm>
            <a:off x="594360" y="182880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n8n</a:t>
            </a:r>
            <a:endParaRPr lang="en-US" sz="1400" dirty="0"/>
          </a:p>
        </p:txBody>
      </p:sp>
      <p:sp>
        <p:nvSpPr>
          <p:cNvPr id="8" name="text-217"/>
          <p:cNvSpPr txBox="1"/>
          <p:nvPr/>
        </p:nvSpPr>
        <p:spPr>
          <a:xfrm>
            <a:off x="1737360" y="1828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Upload alerts, evidence emails and reminders, 15-min continuous monitoring via MCP</a:t>
            </a:r>
            <a:endParaRPr lang="en-US" sz="1100" dirty="0"/>
          </a:p>
        </p:txBody>
      </p:sp>
      <p:sp>
        <p:nvSpPr>
          <p:cNvPr id="9" name="card-218"/>
          <p:cNvSpPr/>
          <p:nvPr/>
        </p:nvSpPr>
        <p:spPr>
          <a:xfrm>
            <a:off x="457200" y="2606040"/>
            <a:ext cx="42062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0" name="text-219"/>
          <p:cNvSpPr txBox="1"/>
          <p:nvPr/>
        </p:nvSpPr>
        <p:spPr>
          <a:xfrm>
            <a:off x="594360" y="26060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ShipReady</a:t>
            </a:r>
            <a:endParaRPr lang="en-US" sz="1400" dirty="0"/>
          </a:p>
        </p:txBody>
      </p:sp>
      <p:sp>
        <p:nvSpPr>
          <p:cNvPr id="11" name="text-220"/>
          <p:cNvSpPr txBox="1"/>
          <p:nvPr/>
        </p:nvSpPr>
        <p:spPr>
          <a:xfrm>
            <a:off x="1737360" y="26060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Shopify connector feeding orders, discounts and refunds into the system of record</a:t>
            </a:r>
            <a:endParaRPr lang="en-US" sz="1100" dirty="0"/>
          </a:p>
        </p:txBody>
      </p:sp>
      <p:sp>
        <p:nvSpPr>
          <p:cNvPr id="12" name="card-221"/>
          <p:cNvSpPr/>
          <p:nvPr/>
        </p:nvSpPr>
        <p:spPr>
          <a:xfrm>
            <a:off x="457200" y="3383280"/>
            <a:ext cx="42062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3" name="text-222"/>
          <p:cNvSpPr txBox="1"/>
          <p:nvPr/>
        </p:nvSpPr>
        <p:spPr>
          <a:xfrm>
            <a:off x="594360" y="33832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OpenAI</a:t>
            </a:r>
            <a:endParaRPr lang="en-US" sz="1400" dirty="0"/>
          </a:p>
        </p:txBody>
      </p:sp>
      <p:sp>
        <p:nvSpPr>
          <p:cNvPr id="14" name="text-223"/>
          <p:cNvSpPr txBox="1"/>
          <p:nvPr/>
        </p:nvSpPr>
        <p:spPr>
          <a:xfrm>
            <a:off x="1737360" y="33832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Investigator agent (just another MCP client) and document reading, under a cost cap</a:t>
            </a:r>
            <a:endParaRPr lang="en-US" sz="1100" dirty="0"/>
          </a:p>
        </p:txBody>
      </p:sp>
      <p:sp>
        <p:nvSpPr>
          <p:cNvPr id="15" name="card-224"/>
          <p:cNvSpPr/>
          <p:nvPr/>
        </p:nvSpPr>
        <p:spPr>
          <a:xfrm>
            <a:off x="4937760" y="105156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9AA8A6">
                <a:alpha val="25000"/>
              </a:srgbClr>
            </a:outerShdw>
          </a:effectLst>
        </p:spPr>
      </p:sp>
      <p:sp>
        <p:nvSpPr>
          <p:cNvPr id="16" name="text-225"/>
          <p:cNvSpPr txBox="1"/>
          <p:nvPr/>
        </p:nvSpPr>
        <p:spPr>
          <a:xfrm>
            <a:off x="512064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7" name="list-226"/>
          <p:cNvSpPr txBox="1"/>
          <p:nvPr/>
        </p:nvSpPr>
        <p:spPr>
          <a:xfrm>
            <a:off x="5120640" y="15544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Government and bank records are simulated: they show how a real portal check works, not real independence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graph only sees entities we have records for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Weights are provisional; scores rank risk, they are not fraud probabilities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Accuracy is measured on our own synthetic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 agent and try to fool 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endpoint on Voroa + a token from the judge card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auditpilot &lt;url&gt;/mcp --header "Authorization: Bearer aud_…"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ELEV01: Shriyans · Ibrahim · Darshan · Aarav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ditPilot Ledger">
  <a:themeElements>
    <a:clrScheme name="AuditPilot Ledger">
      <a:dk1>
        <a:srgbClr val="1B2A2A"/>
      </a:dk1>
      <a:lt1>
        <a:srgbClr val="FFFFFF"/>
      </a:lt1>
      <a:dk2>
        <a:srgbClr val="0B3D3A"/>
      </a:dk2>
      <a:lt2>
        <a:srgbClr val="EEF4F2"/>
      </a:lt2>
      <a:accent1>
        <a:srgbClr val="0B7A6F"/>
      </a:accent1>
      <a:accent2>
        <a:srgbClr val="F2A541"/>
      </a:accent2>
      <a:accent3>
        <a:srgbClr val="C0392B"/>
      </a:accent3>
      <a:accent4>
        <a:srgbClr val="5B6B73"/>
      </a:accent4>
      <a:accent5>
        <a:srgbClr val="2E86AB"/>
      </a:accent5>
      <a:accent6>
        <a:srgbClr val="7A9E7E"/>
      </a:accent6>
      <a:hlink>
        <a:srgbClr val="0B7A6F"/>
      </a:hlink>
      <a:folHlink>
        <a:srgbClr val="5B6B73"/>
      </a:folHlink>
    </a:clrScheme>
    <a:fontScheme name="AuditPilot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ELEVATE 1.0 DJSCE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AuditPilot AI: AI-run statutory revenue audit</dc:title>
  <dc:subject>PptxGenJS Presentation</dc:subject>
  <dc:creator>Team ELEV01: Shriyans, Ibrahim, Darshan, Aarav</dc:creator>
  <cp:lastModifiedBy>Team ELEV01: Shriyans, Ibrahim, Darshan, Aarav</cp:lastModifiedBy>
  <cp:revision>1</cp:revision>
  <dcterms:created xsi:type="dcterms:W3CDTF">2026-10-10T12:46:28Z</dcterms:created>
  <dcterms:modified xsi:type="dcterms:W3CDTF">2026-10-10T12:46:28Z</dcterms:modified>
</cp:coreProperties>
</file>